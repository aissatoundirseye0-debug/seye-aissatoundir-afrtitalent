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53" autoAdjust="0"/>
    <p:restoredTop sz="94610"/>
  </p:normalViewPr>
  <p:slideViewPr>
    <p:cSldViewPr snapToGrid="0" snapToObjects="1">
      <p:cViewPr varScale="1">
        <p:scale>
          <a:sx n="146" d="100"/>
          <a:sy n="146" d="100"/>
        </p:scale>
        <p:origin x="55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296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097280" y="-457200"/>
            <a:ext cx="3657600" cy="3657600"/>
          </a:xfrm>
          <a:prstGeom prst="ellipse">
            <a:avLst/>
          </a:prstGeom>
          <a:solidFill>
            <a:srgbClr val="7C3AED">
              <a:alpha val="25000"/>
            </a:srgbClr>
          </a:solidFill>
          <a:ln w="12700">
            <a:solidFill>
              <a:srgbClr val="7C3AED">
                <a:alpha val="25000"/>
              </a:srgbClr>
            </a:solidFill>
            <a:prstDash val="solid"/>
          </a:ln>
        </p:spPr>
      </p:sp>
      <p:sp>
        <p:nvSpPr>
          <p:cNvPr id="3" name="Shape 1"/>
          <p:cNvSpPr/>
          <p:nvPr/>
        </p:nvSpPr>
        <p:spPr>
          <a:xfrm>
            <a:off x="7315200" y="2743200"/>
            <a:ext cx="3200400" cy="3200400"/>
          </a:xfrm>
          <a:prstGeom prst="ellipse">
            <a:avLst/>
          </a:prstGeom>
          <a:solidFill>
            <a:srgbClr val="F97316">
              <a:alpha val="20000"/>
            </a:srgbClr>
          </a:solidFill>
          <a:ln w="12700">
            <a:solidFill>
              <a:srgbClr val="F97316">
                <a:alpha val="20000"/>
              </a:srgbClr>
            </a:solidFill>
            <a:prstDash val="solid"/>
          </a:ln>
        </p:spPr>
      </p:sp>
      <p:sp>
        <p:nvSpPr>
          <p:cNvPr id="4" name="Shape 2"/>
          <p:cNvSpPr/>
          <p:nvPr/>
        </p:nvSpPr>
        <p:spPr>
          <a:xfrm>
            <a:off x="6858000" y="274320"/>
            <a:ext cx="1097280" cy="1097280"/>
          </a:xfrm>
          <a:prstGeom prst="ellipse">
            <a:avLst/>
          </a:prstGeom>
          <a:solidFill>
            <a:srgbClr val="FBBF24">
              <a:alpha val="40000"/>
            </a:srgbClr>
          </a:solidFill>
          <a:ln w="12700">
            <a:solidFill>
              <a:srgbClr val="FBBF24">
                <a:alpha val="40000"/>
              </a:srgbClr>
            </a:solidFill>
            <a:prstDash val="solid"/>
          </a:ln>
        </p:spPr>
      </p:sp>
      <p:sp>
        <p:nvSpPr>
          <p:cNvPr id="5" name="Text 3"/>
          <p:cNvSpPr/>
          <p:nvPr/>
        </p:nvSpPr>
        <p:spPr>
          <a:xfrm>
            <a:off x="2286000" y="1097280"/>
            <a:ext cx="2286000" cy="914400"/>
          </a:xfrm>
          <a:prstGeom prst="rect">
            <a:avLst/>
          </a:prstGeom>
          <a:noFill/>
          <a:ln/>
        </p:spPr>
        <p:txBody>
          <a:bodyPr wrap="square" lIns="0" tIns="0" rIns="0" bIns="0" rtlCol="0" anchor="ctr"/>
          <a:lstStyle/>
          <a:p>
            <a:pPr marL="0" indent="0" algn="r">
              <a:buNone/>
            </a:pPr>
            <a:r>
              <a:rPr lang="en-US" sz="6000" b="1" dirty="0">
                <a:solidFill>
                  <a:srgbClr val="F97316"/>
                </a:solidFill>
                <a:latin typeface="Cambria" pitchFamily="34" charset="0"/>
                <a:ea typeface="Cambria" pitchFamily="34" charset="-122"/>
                <a:cs typeface="Cambria" pitchFamily="34" charset="-120"/>
              </a:rPr>
              <a:t>Afri</a:t>
            </a:r>
            <a:endParaRPr lang="en-US" sz="6000" dirty="0"/>
          </a:p>
        </p:txBody>
      </p:sp>
      <p:sp>
        <p:nvSpPr>
          <p:cNvPr id="6" name="Text 4"/>
          <p:cNvSpPr/>
          <p:nvPr/>
        </p:nvSpPr>
        <p:spPr>
          <a:xfrm>
            <a:off x="4572000" y="1097280"/>
            <a:ext cx="2560320" cy="914400"/>
          </a:xfrm>
          <a:prstGeom prst="rect">
            <a:avLst/>
          </a:prstGeom>
          <a:noFill/>
          <a:ln/>
        </p:spPr>
        <p:txBody>
          <a:bodyPr wrap="square" lIns="0" tIns="0" rIns="0" bIns="0" rtlCol="0" anchor="ctr"/>
          <a:lstStyle/>
          <a:p>
            <a:pPr marL="0" indent="0" algn="l">
              <a:buNone/>
            </a:pPr>
            <a:r>
              <a:rPr lang="en-US" sz="6000" b="1" dirty="0">
                <a:solidFill>
                  <a:srgbClr val="FFFFFF"/>
                </a:solidFill>
                <a:latin typeface="Cambria" pitchFamily="34" charset="0"/>
                <a:ea typeface="Cambria" pitchFamily="34" charset="-122"/>
                <a:cs typeface="Cambria" pitchFamily="34" charset="-120"/>
              </a:rPr>
              <a:t>Talent</a:t>
            </a:r>
            <a:endParaRPr lang="en-US" sz="6000" dirty="0"/>
          </a:p>
        </p:txBody>
      </p:sp>
      <p:sp>
        <p:nvSpPr>
          <p:cNvPr id="7" name="Text 5"/>
          <p:cNvSpPr/>
          <p:nvPr/>
        </p:nvSpPr>
        <p:spPr>
          <a:xfrm>
            <a:off x="1371600" y="2148840"/>
            <a:ext cx="6400800" cy="457200"/>
          </a:xfrm>
          <a:prstGeom prst="rect">
            <a:avLst/>
          </a:prstGeom>
          <a:noFill/>
          <a:ln/>
        </p:spPr>
        <p:txBody>
          <a:bodyPr wrap="square" rtlCol="0" anchor="ctr"/>
          <a:lstStyle/>
          <a:p>
            <a:pPr marL="0" indent="0" algn="ctr">
              <a:buNone/>
            </a:pPr>
            <a:r>
              <a:rPr lang="en-US" sz="2400" i="1" kern="0" spc="200" dirty="0" err="1">
                <a:solidFill>
                  <a:srgbClr val="FBBF24"/>
                </a:solidFill>
                <a:latin typeface="Calibri" pitchFamily="34" charset="0"/>
                <a:ea typeface="Calibri" pitchFamily="34" charset="-122"/>
                <a:cs typeface="Calibri" pitchFamily="34" charset="-120"/>
              </a:rPr>
              <a:t>Connectez</a:t>
            </a:r>
            <a:r>
              <a:rPr lang="en-US" sz="2400" i="1" kern="0" spc="200" dirty="0">
                <a:solidFill>
                  <a:srgbClr val="FBBF24"/>
                </a:solidFill>
                <a:latin typeface="Calibri" pitchFamily="34" charset="0"/>
                <a:ea typeface="Calibri" pitchFamily="34" charset="-122"/>
                <a:cs typeface="Calibri" pitchFamily="34" charset="-120"/>
              </a:rPr>
              <a:t>-vous aux </a:t>
            </a:r>
            <a:r>
              <a:rPr lang="en-US" sz="2400" i="1" kern="0" spc="200" dirty="0" err="1">
                <a:solidFill>
                  <a:srgbClr val="FBBF24"/>
                </a:solidFill>
                <a:latin typeface="Calibri" pitchFamily="34" charset="0"/>
                <a:ea typeface="Calibri" pitchFamily="34" charset="-122"/>
                <a:cs typeface="Calibri" pitchFamily="34" charset="-120"/>
              </a:rPr>
              <a:t>meilleurs</a:t>
            </a:r>
            <a:r>
              <a:rPr lang="en-US" sz="2400" i="1" kern="0" spc="200" dirty="0">
                <a:solidFill>
                  <a:srgbClr val="FBBF24"/>
                </a:solidFill>
                <a:latin typeface="Calibri" pitchFamily="34" charset="0"/>
                <a:ea typeface="Calibri" pitchFamily="34" charset="-122"/>
                <a:cs typeface="Calibri" pitchFamily="34" charset="-120"/>
              </a:rPr>
              <a:t> freelances </a:t>
            </a:r>
            <a:r>
              <a:rPr lang="en-US" sz="2400" i="1" kern="0" spc="200" dirty="0" err="1">
                <a:solidFill>
                  <a:srgbClr val="FBBF24"/>
                </a:solidFill>
                <a:latin typeface="Calibri" pitchFamily="34" charset="0"/>
                <a:ea typeface="Calibri" pitchFamily="34" charset="-122"/>
                <a:cs typeface="Calibri" pitchFamily="34" charset="-120"/>
              </a:rPr>
              <a:t>africaines</a:t>
            </a:r>
            <a:r>
              <a:rPr lang="en-US" sz="2400" i="1" kern="0" spc="200" dirty="0">
                <a:solidFill>
                  <a:srgbClr val="FBBF24"/>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3200400" y="2697480"/>
            <a:ext cx="2743200" cy="36576"/>
          </a:xfrm>
          <a:prstGeom prst="rect">
            <a:avLst/>
          </a:prstGeom>
          <a:solidFill>
            <a:srgbClr val="F97316"/>
          </a:solidFill>
          <a:ln w="12700">
            <a:solidFill>
              <a:srgbClr val="F97316"/>
            </a:solidFill>
            <a:prstDash val="solid"/>
          </a:ln>
        </p:spPr>
      </p:sp>
      <p:sp>
        <p:nvSpPr>
          <p:cNvPr id="9" name="Text 7"/>
          <p:cNvSpPr/>
          <p:nvPr/>
        </p:nvSpPr>
        <p:spPr>
          <a:xfrm>
            <a:off x="1371600" y="3063240"/>
            <a:ext cx="6400800" cy="347472"/>
          </a:xfrm>
          <a:prstGeom prst="rect">
            <a:avLst/>
          </a:prstGeom>
          <a:noFill/>
          <a:ln/>
        </p:spPr>
        <p:txBody>
          <a:bodyPr wrap="square"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Réalisé par : </a:t>
            </a:r>
            <a:r>
              <a:rPr lang="en-US" sz="1400" b="1" dirty="0">
                <a:solidFill>
                  <a:srgbClr val="FFFFFF"/>
                </a:solidFill>
                <a:latin typeface="Calibri" pitchFamily="34" charset="0"/>
                <a:ea typeface="Calibri" pitchFamily="34" charset="-122"/>
                <a:cs typeface="Calibri" pitchFamily="34" charset="-120"/>
              </a:rPr>
              <a:t>Aïssatou Ndir Seye</a:t>
            </a:r>
            <a:endParaRPr lang="en-US" sz="1400" dirty="0"/>
          </a:p>
        </p:txBody>
      </p:sp>
      <p:sp>
        <p:nvSpPr>
          <p:cNvPr id="10" name="Text 8"/>
          <p:cNvSpPr/>
          <p:nvPr/>
        </p:nvSpPr>
        <p:spPr>
          <a:xfrm>
            <a:off x="914400" y="3520440"/>
            <a:ext cx="7315200" cy="347472"/>
          </a:xfrm>
          <a:prstGeom prst="rect">
            <a:avLst/>
          </a:prstGeom>
          <a:noFill/>
          <a:ln/>
        </p:spPr>
        <p:txBody>
          <a:bodyPr wrap="square"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Établissement : </a:t>
            </a:r>
            <a:r>
              <a:rPr lang="en-US" sz="1300" b="1" dirty="0">
                <a:solidFill>
                  <a:srgbClr val="FBBF24"/>
                </a:solidFill>
                <a:latin typeface="Calibri" pitchFamily="34" charset="0"/>
                <a:ea typeface="Calibri" pitchFamily="34" charset="-122"/>
                <a:cs typeface="Calibri" pitchFamily="34" charset="-120"/>
              </a:rPr>
              <a:t>ISI</a:t>
            </a:r>
            <a:r>
              <a:rPr lang="en-US" sz="1300" dirty="0">
                <a:solidFill>
                  <a:srgbClr val="64748B"/>
                </a:solidFill>
                <a:latin typeface="Calibri" pitchFamily="34" charset="0"/>
                <a:ea typeface="Calibri" pitchFamily="34" charset="-122"/>
                <a:cs typeface="Calibri" pitchFamily="34" charset="-120"/>
              </a:rPr>
              <a:t>   |   Classe : </a:t>
            </a:r>
            <a:r>
              <a:rPr lang="en-US" sz="1300" b="1" dirty="0">
                <a:solidFill>
                  <a:srgbClr val="FBBF24"/>
                </a:solidFill>
                <a:latin typeface="Calibri" pitchFamily="34" charset="0"/>
                <a:ea typeface="Calibri" pitchFamily="34" charset="-122"/>
                <a:cs typeface="Calibri" pitchFamily="34" charset="-120"/>
              </a:rPr>
              <a:t>L1 IAGE</a:t>
            </a:r>
            <a:r>
              <a:rPr lang="en-US" sz="1300" dirty="0">
                <a:solidFill>
                  <a:srgbClr val="64748B"/>
                </a:solidFill>
                <a:latin typeface="Calibri" pitchFamily="34" charset="0"/>
                <a:ea typeface="Calibri" pitchFamily="34" charset="-122"/>
                <a:cs typeface="Calibri" pitchFamily="34" charset="-120"/>
              </a:rPr>
              <a:t>   |   Année : </a:t>
            </a:r>
            <a:r>
              <a:rPr lang="en-US" sz="1300" b="1" dirty="0">
                <a:solidFill>
                  <a:srgbClr val="FBBF24"/>
                </a:solidFill>
                <a:latin typeface="Calibri" pitchFamily="34" charset="0"/>
                <a:ea typeface="Calibri" pitchFamily="34" charset="-122"/>
                <a:cs typeface="Calibri" pitchFamily="34" charset="-120"/>
              </a:rPr>
              <a:t>2025–2026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4338CA"/>
          </a:solidFill>
          <a:ln w="12700">
            <a:solidFill>
              <a:srgbClr val="4338CA"/>
            </a:solidFill>
            <a:prstDash val="solid"/>
          </a:ln>
        </p:spPr>
      </p:sp>
      <p:sp>
        <p:nvSpPr>
          <p:cNvPr id="3" name="Text 1"/>
          <p:cNvSpPr/>
          <p:nvPr/>
        </p:nvSpPr>
        <p:spPr>
          <a:xfrm>
            <a:off x="274320" y="0"/>
            <a:ext cx="859536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  SOMMAIRE</a:t>
            </a:r>
            <a:endParaRPr lang="en-US" sz="3000" dirty="0"/>
          </a:p>
        </p:txBody>
      </p:sp>
      <p:sp>
        <p:nvSpPr>
          <p:cNvPr id="4" name="Shape 2"/>
          <p:cNvSpPr/>
          <p:nvPr/>
        </p:nvSpPr>
        <p:spPr>
          <a:xfrm>
            <a:off x="274320" y="1234440"/>
            <a:ext cx="411480" cy="411480"/>
          </a:xfrm>
          <a:prstGeom prst="ellipse">
            <a:avLst/>
          </a:prstGeom>
          <a:solidFill>
            <a:srgbClr val="F97316"/>
          </a:solidFill>
          <a:ln w="12700">
            <a:solidFill>
              <a:srgbClr val="F97316"/>
            </a:solidFill>
            <a:prstDash val="solid"/>
          </a:ln>
        </p:spPr>
      </p:sp>
      <p:sp>
        <p:nvSpPr>
          <p:cNvPr id="5" name="Text 3"/>
          <p:cNvSpPr/>
          <p:nvPr/>
        </p:nvSpPr>
        <p:spPr>
          <a:xfrm>
            <a:off x="274320" y="1234440"/>
            <a:ext cx="411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6" name="Text 4"/>
          <p:cNvSpPr/>
          <p:nvPr/>
        </p:nvSpPr>
        <p:spPr>
          <a:xfrm>
            <a:off x="777240" y="1188720"/>
            <a:ext cx="3474720" cy="50292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Présentation du projet</a:t>
            </a:r>
            <a:endParaRPr lang="en-US" sz="1300" dirty="0"/>
          </a:p>
        </p:txBody>
      </p:sp>
      <p:sp>
        <p:nvSpPr>
          <p:cNvPr id="7" name="Shape 5"/>
          <p:cNvSpPr/>
          <p:nvPr/>
        </p:nvSpPr>
        <p:spPr>
          <a:xfrm>
            <a:off x="274320" y="1783080"/>
            <a:ext cx="411480" cy="411480"/>
          </a:xfrm>
          <a:prstGeom prst="ellipse">
            <a:avLst/>
          </a:prstGeom>
          <a:solidFill>
            <a:srgbClr val="7C3AED"/>
          </a:solidFill>
          <a:ln w="12700">
            <a:solidFill>
              <a:srgbClr val="7C3AED"/>
            </a:solidFill>
            <a:prstDash val="solid"/>
          </a:ln>
        </p:spPr>
      </p:sp>
      <p:sp>
        <p:nvSpPr>
          <p:cNvPr id="8" name="Text 6"/>
          <p:cNvSpPr/>
          <p:nvPr/>
        </p:nvSpPr>
        <p:spPr>
          <a:xfrm>
            <a:off x="274320" y="1783080"/>
            <a:ext cx="411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9" name="Text 7"/>
          <p:cNvSpPr/>
          <p:nvPr/>
        </p:nvSpPr>
        <p:spPr>
          <a:xfrm>
            <a:off x="777240" y="1737360"/>
            <a:ext cx="3474720" cy="50292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Choix de design &amp; palette</a:t>
            </a:r>
            <a:endParaRPr lang="en-US" sz="1300" dirty="0"/>
          </a:p>
        </p:txBody>
      </p:sp>
      <p:sp>
        <p:nvSpPr>
          <p:cNvPr id="10" name="Shape 8"/>
          <p:cNvSpPr/>
          <p:nvPr/>
        </p:nvSpPr>
        <p:spPr>
          <a:xfrm>
            <a:off x="274320" y="2331720"/>
            <a:ext cx="411480" cy="411480"/>
          </a:xfrm>
          <a:prstGeom prst="ellipse">
            <a:avLst/>
          </a:prstGeom>
          <a:solidFill>
            <a:srgbClr val="0D9488"/>
          </a:solidFill>
          <a:ln w="12700">
            <a:solidFill>
              <a:srgbClr val="0D9488"/>
            </a:solidFill>
            <a:prstDash val="solid"/>
          </a:ln>
        </p:spPr>
      </p:sp>
      <p:sp>
        <p:nvSpPr>
          <p:cNvPr id="11" name="Text 9"/>
          <p:cNvSpPr/>
          <p:nvPr/>
        </p:nvSpPr>
        <p:spPr>
          <a:xfrm>
            <a:off x="274320" y="2331720"/>
            <a:ext cx="411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2" name="Text 10"/>
          <p:cNvSpPr/>
          <p:nvPr/>
        </p:nvSpPr>
        <p:spPr>
          <a:xfrm>
            <a:off x="777240" y="2286000"/>
            <a:ext cx="3474720" cy="50292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Architecture du site</a:t>
            </a:r>
            <a:endParaRPr lang="en-US" sz="1300" dirty="0"/>
          </a:p>
        </p:txBody>
      </p:sp>
      <p:sp>
        <p:nvSpPr>
          <p:cNvPr id="13" name="Shape 11"/>
          <p:cNvSpPr/>
          <p:nvPr/>
        </p:nvSpPr>
        <p:spPr>
          <a:xfrm>
            <a:off x="274320" y="2880360"/>
            <a:ext cx="411480" cy="411480"/>
          </a:xfrm>
          <a:prstGeom prst="ellipse">
            <a:avLst/>
          </a:prstGeom>
          <a:solidFill>
            <a:srgbClr val="4338CA"/>
          </a:solidFill>
          <a:ln w="12700">
            <a:solidFill>
              <a:srgbClr val="4338CA"/>
            </a:solidFill>
            <a:prstDash val="solid"/>
          </a:ln>
        </p:spPr>
      </p:sp>
      <p:sp>
        <p:nvSpPr>
          <p:cNvPr id="14" name="Text 12"/>
          <p:cNvSpPr/>
          <p:nvPr/>
        </p:nvSpPr>
        <p:spPr>
          <a:xfrm>
            <a:off x="274320" y="2880360"/>
            <a:ext cx="411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5" name="Text 13"/>
          <p:cNvSpPr/>
          <p:nvPr/>
        </p:nvSpPr>
        <p:spPr>
          <a:xfrm>
            <a:off x="777240" y="2834640"/>
            <a:ext cx="3474720" cy="50292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Technologies utilisées</a:t>
            </a:r>
            <a:endParaRPr lang="en-US" sz="1300" dirty="0"/>
          </a:p>
        </p:txBody>
      </p:sp>
      <p:sp>
        <p:nvSpPr>
          <p:cNvPr id="16" name="Shape 14"/>
          <p:cNvSpPr/>
          <p:nvPr/>
        </p:nvSpPr>
        <p:spPr>
          <a:xfrm>
            <a:off x="274320" y="3429000"/>
            <a:ext cx="411480" cy="411480"/>
          </a:xfrm>
          <a:prstGeom prst="ellipse">
            <a:avLst/>
          </a:prstGeom>
          <a:solidFill>
            <a:srgbClr val="059669"/>
          </a:solidFill>
          <a:ln w="12700">
            <a:solidFill>
              <a:srgbClr val="059669"/>
            </a:solidFill>
            <a:prstDash val="solid"/>
          </a:ln>
        </p:spPr>
      </p:sp>
      <p:sp>
        <p:nvSpPr>
          <p:cNvPr id="17" name="Text 15"/>
          <p:cNvSpPr/>
          <p:nvPr/>
        </p:nvSpPr>
        <p:spPr>
          <a:xfrm>
            <a:off x="274320" y="3429000"/>
            <a:ext cx="411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18" name="Text 16"/>
          <p:cNvSpPr/>
          <p:nvPr/>
        </p:nvSpPr>
        <p:spPr>
          <a:xfrm>
            <a:off x="777240" y="3383280"/>
            <a:ext cx="3474720" cy="50292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Pages développées</a:t>
            </a:r>
            <a:endParaRPr lang="en-US" sz="1300" dirty="0"/>
          </a:p>
        </p:txBody>
      </p:sp>
      <p:sp>
        <p:nvSpPr>
          <p:cNvPr id="19" name="Shape 17"/>
          <p:cNvSpPr/>
          <p:nvPr/>
        </p:nvSpPr>
        <p:spPr>
          <a:xfrm>
            <a:off x="274320" y="3977640"/>
            <a:ext cx="411480" cy="411480"/>
          </a:xfrm>
          <a:prstGeom prst="ellipse">
            <a:avLst/>
          </a:prstGeom>
          <a:solidFill>
            <a:srgbClr val="EF4444"/>
          </a:solidFill>
          <a:ln w="12700">
            <a:solidFill>
              <a:srgbClr val="EF4444"/>
            </a:solidFill>
            <a:prstDash val="solid"/>
          </a:ln>
        </p:spPr>
      </p:sp>
      <p:sp>
        <p:nvSpPr>
          <p:cNvPr id="20" name="Text 18"/>
          <p:cNvSpPr/>
          <p:nvPr/>
        </p:nvSpPr>
        <p:spPr>
          <a:xfrm>
            <a:off x="274320" y="3977640"/>
            <a:ext cx="411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21" name="Text 19"/>
          <p:cNvSpPr/>
          <p:nvPr/>
        </p:nvSpPr>
        <p:spPr>
          <a:xfrm>
            <a:off x="777240" y="3931920"/>
            <a:ext cx="3474720" cy="50292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Points techniques JS/CSS</a:t>
            </a:r>
            <a:endParaRPr lang="en-US" sz="1300" dirty="0"/>
          </a:p>
        </p:txBody>
      </p:sp>
      <p:sp>
        <p:nvSpPr>
          <p:cNvPr id="22" name="Shape 20"/>
          <p:cNvSpPr/>
          <p:nvPr/>
        </p:nvSpPr>
        <p:spPr>
          <a:xfrm>
            <a:off x="274320" y="4526280"/>
            <a:ext cx="411480" cy="411480"/>
          </a:xfrm>
          <a:prstGeom prst="ellipse">
            <a:avLst/>
          </a:prstGeom>
          <a:solidFill>
            <a:srgbClr val="0284C7"/>
          </a:solidFill>
          <a:ln w="12700">
            <a:solidFill>
              <a:srgbClr val="0284C7"/>
            </a:solidFill>
            <a:prstDash val="solid"/>
          </a:ln>
        </p:spPr>
      </p:sp>
      <p:sp>
        <p:nvSpPr>
          <p:cNvPr id="23" name="Text 21"/>
          <p:cNvSpPr/>
          <p:nvPr/>
        </p:nvSpPr>
        <p:spPr>
          <a:xfrm>
            <a:off x="274320" y="4526280"/>
            <a:ext cx="411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24" name="Text 22"/>
          <p:cNvSpPr/>
          <p:nvPr/>
        </p:nvSpPr>
        <p:spPr>
          <a:xfrm>
            <a:off x="777240" y="4480560"/>
            <a:ext cx="3474720" cy="50292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GitHub </a:t>
            </a:r>
            <a:endParaRPr lang="en-US" sz="1300" dirty="0"/>
          </a:p>
        </p:txBody>
      </p:sp>
      <p:sp>
        <p:nvSpPr>
          <p:cNvPr id="25" name="Shape 23"/>
          <p:cNvSpPr/>
          <p:nvPr/>
        </p:nvSpPr>
        <p:spPr>
          <a:xfrm>
            <a:off x="4754880" y="1234440"/>
            <a:ext cx="411480" cy="411480"/>
          </a:xfrm>
          <a:prstGeom prst="ellipse">
            <a:avLst/>
          </a:prstGeom>
          <a:solidFill>
            <a:srgbClr val="BE185D"/>
          </a:solidFill>
          <a:ln w="12700">
            <a:solidFill>
              <a:srgbClr val="BE185D"/>
            </a:solidFill>
            <a:prstDash val="solid"/>
          </a:ln>
        </p:spPr>
      </p:sp>
      <p:sp>
        <p:nvSpPr>
          <p:cNvPr id="26" name="Text 24"/>
          <p:cNvSpPr/>
          <p:nvPr/>
        </p:nvSpPr>
        <p:spPr>
          <a:xfrm>
            <a:off x="4754880" y="1234440"/>
            <a:ext cx="411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27" name="Text 25"/>
          <p:cNvSpPr/>
          <p:nvPr/>
        </p:nvSpPr>
        <p:spPr>
          <a:xfrm>
            <a:off x="5257800" y="1188720"/>
            <a:ext cx="3474720" cy="50292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Responsive &amp; Dark Mode</a:t>
            </a:r>
            <a:endParaRPr lang="en-US" sz="1300" dirty="0"/>
          </a:p>
        </p:txBody>
      </p:sp>
      <p:sp>
        <p:nvSpPr>
          <p:cNvPr id="28" name="Shape 26"/>
          <p:cNvSpPr/>
          <p:nvPr/>
        </p:nvSpPr>
        <p:spPr>
          <a:xfrm>
            <a:off x="4754880" y="1783080"/>
            <a:ext cx="411480" cy="411480"/>
          </a:xfrm>
          <a:prstGeom prst="ellipse">
            <a:avLst/>
          </a:prstGeom>
          <a:solidFill>
            <a:srgbClr val="F59E0B"/>
          </a:solidFill>
          <a:ln w="12700">
            <a:solidFill>
              <a:srgbClr val="F59E0B"/>
            </a:solidFill>
            <a:prstDash val="solid"/>
          </a:ln>
        </p:spPr>
      </p:sp>
      <p:sp>
        <p:nvSpPr>
          <p:cNvPr id="29" name="Text 27"/>
          <p:cNvSpPr/>
          <p:nvPr/>
        </p:nvSpPr>
        <p:spPr>
          <a:xfrm>
            <a:off x="4754880" y="1783080"/>
            <a:ext cx="411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09</a:t>
            </a:r>
            <a:endParaRPr lang="en-US" sz="1000" dirty="0"/>
          </a:p>
        </p:txBody>
      </p:sp>
      <p:sp>
        <p:nvSpPr>
          <p:cNvPr id="30" name="Text 28"/>
          <p:cNvSpPr/>
          <p:nvPr/>
        </p:nvSpPr>
        <p:spPr>
          <a:xfrm>
            <a:off x="5257800" y="1737360"/>
            <a:ext cx="3474720" cy="50292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Animations JavaScript</a:t>
            </a:r>
            <a:endParaRPr lang="en-US" sz="1300" dirty="0"/>
          </a:p>
        </p:txBody>
      </p:sp>
      <p:sp>
        <p:nvSpPr>
          <p:cNvPr id="31" name="Shape 29"/>
          <p:cNvSpPr/>
          <p:nvPr/>
        </p:nvSpPr>
        <p:spPr>
          <a:xfrm>
            <a:off x="4754880" y="2331720"/>
            <a:ext cx="411480" cy="411480"/>
          </a:xfrm>
          <a:prstGeom prst="ellipse">
            <a:avLst/>
          </a:prstGeom>
          <a:solidFill>
            <a:srgbClr val="7C3AED"/>
          </a:solidFill>
          <a:ln w="12700">
            <a:solidFill>
              <a:srgbClr val="7C3AED"/>
            </a:solidFill>
            <a:prstDash val="solid"/>
          </a:ln>
        </p:spPr>
      </p:sp>
      <p:sp>
        <p:nvSpPr>
          <p:cNvPr id="32" name="Text 30"/>
          <p:cNvSpPr/>
          <p:nvPr/>
        </p:nvSpPr>
        <p:spPr>
          <a:xfrm>
            <a:off x="4754880" y="2331720"/>
            <a:ext cx="411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33" name="Text 31"/>
          <p:cNvSpPr/>
          <p:nvPr/>
        </p:nvSpPr>
        <p:spPr>
          <a:xfrm>
            <a:off x="5257800" y="2286000"/>
            <a:ext cx="3474720" cy="50292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Difficultés &amp; solutions</a:t>
            </a:r>
            <a:endParaRPr lang="en-US" sz="1300" dirty="0"/>
          </a:p>
        </p:txBody>
      </p:sp>
      <p:sp>
        <p:nvSpPr>
          <p:cNvPr id="34" name="Shape 32"/>
          <p:cNvSpPr/>
          <p:nvPr/>
        </p:nvSpPr>
        <p:spPr>
          <a:xfrm>
            <a:off x="4754880" y="2880360"/>
            <a:ext cx="411480" cy="411480"/>
          </a:xfrm>
          <a:prstGeom prst="ellipse">
            <a:avLst/>
          </a:prstGeom>
          <a:solidFill>
            <a:srgbClr val="0D9488"/>
          </a:solidFill>
          <a:ln w="12700">
            <a:solidFill>
              <a:srgbClr val="0D9488"/>
            </a:solidFill>
            <a:prstDash val="solid"/>
          </a:ln>
        </p:spPr>
      </p:sp>
      <p:sp>
        <p:nvSpPr>
          <p:cNvPr id="35" name="Text 33"/>
          <p:cNvSpPr/>
          <p:nvPr/>
        </p:nvSpPr>
        <p:spPr>
          <a:xfrm>
            <a:off x="4754880" y="2880360"/>
            <a:ext cx="411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36" name="Text 34"/>
          <p:cNvSpPr/>
          <p:nvPr/>
        </p:nvSpPr>
        <p:spPr>
          <a:xfrm>
            <a:off x="5257800" y="2834640"/>
            <a:ext cx="3474720" cy="50292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Ressources utilisées</a:t>
            </a:r>
            <a:endParaRPr lang="en-US" sz="1300" dirty="0"/>
          </a:p>
        </p:txBody>
      </p:sp>
      <p:sp>
        <p:nvSpPr>
          <p:cNvPr id="37" name="Shape 35"/>
          <p:cNvSpPr/>
          <p:nvPr/>
        </p:nvSpPr>
        <p:spPr>
          <a:xfrm>
            <a:off x="4754880" y="3429000"/>
            <a:ext cx="411480" cy="411480"/>
          </a:xfrm>
          <a:prstGeom prst="ellipse">
            <a:avLst/>
          </a:prstGeom>
          <a:solidFill>
            <a:srgbClr val="F97316"/>
          </a:solidFill>
          <a:ln w="12700">
            <a:solidFill>
              <a:srgbClr val="F97316"/>
            </a:solidFill>
            <a:prstDash val="solid"/>
          </a:ln>
        </p:spPr>
      </p:sp>
      <p:sp>
        <p:nvSpPr>
          <p:cNvPr id="38" name="Text 36"/>
          <p:cNvSpPr/>
          <p:nvPr/>
        </p:nvSpPr>
        <p:spPr>
          <a:xfrm>
            <a:off x="4754880" y="3429000"/>
            <a:ext cx="411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39" name="Text 37"/>
          <p:cNvSpPr/>
          <p:nvPr/>
        </p:nvSpPr>
        <p:spPr>
          <a:xfrm>
            <a:off x="5257800" y="3383280"/>
            <a:ext cx="3474720" cy="502920"/>
          </a:xfrm>
          <a:prstGeom prst="rect">
            <a:avLst/>
          </a:prstGeom>
          <a:noFill/>
          <a:ln/>
        </p:spPr>
        <p:txBody>
          <a:bodyPr wrap="square" rtlCol="0" anchor="ctr"/>
          <a:lstStyle/>
          <a:p>
            <a:pPr marL="0" indent="0">
              <a:buNone/>
            </a:pPr>
            <a:r>
              <a:rPr lang="en-US" sz="1300" dirty="0" err="1">
                <a:solidFill>
                  <a:srgbClr val="1E293B"/>
                </a:solidFill>
                <a:latin typeface="Calibri" pitchFamily="34" charset="0"/>
                <a:ea typeface="Calibri" pitchFamily="34" charset="-122"/>
                <a:cs typeface="Calibri" pitchFamily="34" charset="-120"/>
              </a:rPr>
              <a:t>Démonstration</a:t>
            </a:r>
            <a:r>
              <a:rPr lang="en-US" sz="1300" dirty="0">
                <a:solidFill>
                  <a:srgbClr val="1E293B"/>
                </a:solidFill>
                <a:latin typeface="Calibri" pitchFamily="34" charset="0"/>
                <a:ea typeface="Calibri" pitchFamily="34" charset="-122"/>
                <a:cs typeface="Calibri" pitchFamily="34" charset="-120"/>
              </a:rPr>
              <a:t> et </a:t>
            </a:r>
            <a:r>
              <a:rPr lang="en-US" sz="1300" dirty="0" err="1">
                <a:solidFill>
                  <a:srgbClr val="1E293B"/>
                </a:solidFill>
                <a:latin typeface="Calibri" pitchFamily="34" charset="0"/>
                <a:ea typeface="Calibri" pitchFamily="34" charset="-122"/>
                <a:cs typeface="Calibri" pitchFamily="34" charset="-120"/>
              </a:rPr>
              <a:t>contenus</a:t>
            </a:r>
            <a:r>
              <a:rPr lang="en-US" sz="1300" dirty="0">
                <a:solidFill>
                  <a:srgbClr val="1E293B"/>
                </a:solidFill>
                <a:latin typeface="Calibri" pitchFamily="34" charset="0"/>
                <a:ea typeface="Calibri" pitchFamily="34" charset="-122"/>
                <a:cs typeface="Calibri" pitchFamily="34" charset="-120"/>
              </a:rPr>
              <a:t> du site</a:t>
            </a:r>
            <a:endParaRPr lang="en-US" sz="1300" dirty="0"/>
          </a:p>
        </p:txBody>
      </p:sp>
      <p:sp>
        <p:nvSpPr>
          <p:cNvPr id="40" name="Shape 38"/>
          <p:cNvSpPr/>
          <p:nvPr/>
        </p:nvSpPr>
        <p:spPr>
          <a:xfrm>
            <a:off x="4754880" y="3977640"/>
            <a:ext cx="411480" cy="411480"/>
          </a:xfrm>
          <a:prstGeom prst="ellipse">
            <a:avLst/>
          </a:prstGeom>
          <a:solidFill>
            <a:srgbClr val="059669"/>
          </a:solidFill>
          <a:ln w="12700">
            <a:solidFill>
              <a:srgbClr val="059669"/>
            </a:solidFill>
            <a:prstDash val="solid"/>
          </a:ln>
        </p:spPr>
      </p:sp>
      <p:sp>
        <p:nvSpPr>
          <p:cNvPr id="41" name="Text 39"/>
          <p:cNvSpPr/>
          <p:nvPr/>
        </p:nvSpPr>
        <p:spPr>
          <a:xfrm>
            <a:off x="4754880" y="3977640"/>
            <a:ext cx="411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42" name="Text 40"/>
          <p:cNvSpPr/>
          <p:nvPr/>
        </p:nvSpPr>
        <p:spPr>
          <a:xfrm>
            <a:off x="5257800" y="3931920"/>
            <a:ext cx="3474720" cy="50292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Résultats obtenus</a:t>
            </a:r>
            <a:endParaRPr lang="en-US" sz="1300" dirty="0"/>
          </a:p>
        </p:txBody>
      </p:sp>
      <p:sp>
        <p:nvSpPr>
          <p:cNvPr id="43" name="Shape 41"/>
          <p:cNvSpPr/>
          <p:nvPr/>
        </p:nvSpPr>
        <p:spPr>
          <a:xfrm>
            <a:off x="4754880" y="4526280"/>
            <a:ext cx="411480" cy="411480"/>
          </a:xfrm>
          <a:prstGeom prst="ellipse">
            <a:avLst/>
          </a:prstGeom>
          <a:solidFill>
            <a:srgbClr val="4338CA"/>
          </a:solidFill>
          <a:ln w="12700">
            <a:solidFill>
              <a:srgbClr val="4338CA"/>
            </a:solidFill>
            <a:prstDash val="solid"/>
          </a:ln>
        </p:spPr>
      </p:sp>
      <p:sp>
        <p:nvSpPr>
          <p:cNvPr id="44" name="Text 42"/>
          <p:cNvSpPr/>
          <p:nvPr/>
        </p:nvSpPr>
        <p:spPr>
          <a:xfrm>
            <a:off x="4754880" y="4526280"/>
            <a:ext cx="41148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14–15</a:t>
            </a:r>
            <a:endParaRPr lang="en-US" sz="1000" dirty="0"/>
          </a:p>
        </p:txBody>
      </p:sp>
      <p:sp>
        <p:nvSpPr>
          <p:cNvPr id="45" name="Text 43"/>
          <p:cNvSpPr/>
          <p:nvPr/>
        </p:nvSpPr>
        <p:spPr>
          <a:xfrm>
            <a:off x="5257800" y="4480560"/>
            <a:ext cx="3474720" cy="50292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Conclusion &amp; perspectives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858000" y="-731520"/>
            <a:ext cx="3657600" cy="3657600"/>
          </a:xfrm>
          <a:prstGeom prst="ellipse">
            <a:avLst/>
          </a:prstGeom>
          <a:solidFill>
            <a:srgbClr val="F97316">
              <a:alpha val="15000"/>
            </a:srgbClr>
          </a:solidFill>
          <a:ln w="12700">
            <a:solidFill>
              <a:srgbClr val="F97316">
                <a:alpha val="15000"/>
              </a:srgbClr>
            </a:solidFill>
            <a:prstDash val="solid"/>
          </a:ln>
        </p:spPr>
      </p:sp>
      <p:sp>
        <p:nvSpPr>
          <p:cNvPr id="3" name="Text 1"/>
          <p:cNvSpPr/>
          <p:nvPr/>
        </p:nvSpPr>
        <p:spPr>
          <a:xfrm>
            <a:off x="457200" y="228600"/>
            <a:ext cx="73152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Présentation du Projet</a:t>
            </a:r>
            <a:endParaRPr lang="en-US" sz="3200" dirty="0"/>
          </a:p>
        </p:txBody>
      </p:sp>
      <p:sp>
        <p:nvSpPr>
          <p:cNvPr id="4" name="Shape 2"/>
          <p:cNvSpPr/>
          <p:nvPr/>
        </p:nvSpPr>
        <p:spPr>
          <a:xfrm>
            <a:off x="457200" y="914400"/>
            <a:ext cx="1371600" cy="54864"/>
          </a:xfrm>
          <a:prstGeom prst="rect">
            <a:avLst/>
          </a:prstGeom>
          <a:solidFill>
            <a:srgbClr val="F97316"/>
          </a:solidFill>
          <a:ln w="12700">
            <a:solidFill>
              <a:srgbClr val="F97316"/>
            </a:solidFill>
            <a:prstDash val="solid"/>
          </a:ln>
        </p:spPr>
      </p:sp>
      <p:sp>
        <p:nvSpPr>
          <p:cNvPr id="5" name="Shape 3"/>
          <p:cNvSpPr/>
          <p:nvPr/>
        </p:nvSpPr>
        <p:spPr>
          <a:xfrm>
            <a:off x="365760" y="1143000"/>
            <a:ext cx="4023360" cy="3474720"/>
          </a:xfrm>
          <a:prstGeom prst="roundRect">
            <a:avLst>
              <a:gd name="adj" fmla="val 3947"/>
            </a:avLst>
          </a:prstGeom>
          <a:solidFill>
            <a:srgbClr val="1A2744"/>
          </a:solidFill>
          <a:ln w="12700">
            <a:solidFill>
              <a:srgbClr val="7C3AED">
                <a:alpha val="50000"/>
              </a:srgbClr>
            </a:solidFill>
            <a:prstDash val="solid"/>
          </a:ln>
          <a:effectLst>
            <a:outerShdw blurRad="101600" dist="38100" dir="2700000" algn="bl" rotWithShape="0">
              <a:srgbClr val="000000">
                <a:alpha val="18000"/>
              </a:srgbClr>
            </a:outerShdw>
          </a:effectLst>
        </p:spPr>
      </p:sp>
      <p:sp>
        <p:nvSpPr>
          <p:cNvPr id="6" name="Text 4"/>
          <p:cNvSpPr/>
          <p:nvPr/>
        </p:nvSpPr>
        <p:spPr>
          <a:xfrm>
            <a:off x="548640" y="1325880"/>
            <a:ext cx="3657600" cy="457200"/>
          </a:xfrm>
          <a:prstGeom prst="rect">
            <a:avLst/>
          </a:prstGeom>
          <a:noFill/>
          <a:ln/>
        </p:spPr>
        <p:txBody>
          <a:bodyPr wrap="square" rtlCol="0" anchor="ctr"/>
          <a:lstStyle/>
          <a:p>
            <a:pPr marL="0" indent="0">
              <a:buNone/>
            </a:pPr>
            <a:r>
              <a:rPr lang="en-US" sz="1600" b="1" dirty="0">
                <a:solidFill>
                  <a:srgbClr val="FBBF24"/>
                </a:solidFill>
                <a:latin typeface="Cambria" pitchFamily="34" charset="0"/>
                <a:ea typeface="Cambria" pitchFamily="34" charset="-122"/>
                <a:cs typeface="Cambria" pitchFamily="34" charset="-120"/>
              </a:rPr>
              <a:t>🌍  Contexte</a:t>
            </a:r>
            <a:endParaRPr lang="en-US" sz="1600" dirty="0"/>
          </a:p>
        </p:txBody>
      </p:sp>
      <p:sp>
        <p:nvSpPr>
          <p:cNvPr id="7" name="Text 5"/>
          <p:cNvSpPr/>
          <p:nvPr/>
        </p:nvSpPr>
        <p:spPr>
          <a:xfrm>
            <a:off x="548640" y="1828800"/>
            <a:ext cx="3657600" cy="1188720"/>
          </a:xfrm>
          <a:prstGeom prst="rect">
            <a:avLst/>
          </a:prstGeom>
          <a:noFill/>
          <a:ln/>
        </p:spPr>
        <p:txBody>
          <a:bodyPr wrap="square" rtlCol="0" anchor="ctr"/>
          <a:lstStyle/>
          <a:p>
            <a:pPr marL="0" indent="0">
              <a:buNone/>
            </a:pPr>
            <a:r>
              <a:rPr lang="en-US" sz="1300" dirty="0">
                <a:solidFill>
                  <a:srgbClr val="F8FAFC"/>
                </a:solidFill>
                <a:latin typeface="Calibri" pitchFamily="34" charset="0"/>
                <a:ea typeface="Calibri" pitchFamily="34" charset="-122"/>
                <a:cs typeface="Calibri" pitchFamily="34" charset="-120"/>
              </a:rPr>
              <a:t>Le marché du freelancing est en pleine croissance en Afrique, mais les talents africains manquent souvent de visibilité sur les plateformes mondiales.</a:t>
            </a:r>
            <a:endParaRPr lang="en-US" sz="1300" dirty="0"/>
          </a:p>
        </p:txBody>
      </p:sp>
      <p:sp>
        <p:nvSpPr>
          <p:cNvPr id="8" name="Text 6"/>
          <p:cNvSpPr/>
          <p:nvPr/>
        </p:nvSpPr>
        <p:spPr>
          <a:xfrm>
            <a:off x="548640" y="3017520"/>
            <a:ext cx="3657600" cy="457200"/>
          </a:xfrm>
          <a:prstGeom prst="rect">
            <a:avLst/>
          </a:prstGeom>
          <a:noFill/>
          <a:ln/>
        </p:spPr>
        <p:txBody>
          <a:bodyPr wrap="square" rtlCol="0" anchor="ctr"/>
          <a:lstStyle/>
          <a:p>
            <a:pPr marL="0" indent="0">
              <a:buNone/>
            </a:pPr>
            <a:r>
              <a:rPr lang="en-US" sz="1600" b="1" dirty="0">
                <a:solidFill>
                  <a:srgbClr val="FBBF24"/>
                </a:solidFill>
                <a:latin typeface="Cambria" pitchFamily="34" charset="0"/>
                <a:ea typeface="Cambria" pitchFamily="34" charset="-122"/>
                <a:cs typeface="Cambria" pitchFamily="34" charset="-120"/>
              </a:rPr>
              <a:t>💡  Solution</a:t>
            </a:r>
            <a:endParaRPr lang="en-US" sz="1600" dirty="0"/>
          </a:p>
        </p:txBody>
      </p:sp>
      <p:sp>
        <p:nvSpPr>
          <p:cNvPr id="9" name="Text 7"/>
          <p:cNvSpPr/>
          <p:nvPr/>
        </p:nvSpPr>
        <p:spPr>
          <a:xfrm>
            <a:off x="548640" y="3520440"/>
            <a:ext cx="3657600" cy="822960"/>
          </a:xfrm>
          <a:prstGeom prst="rect">
            <a:avLst/>
          </a:prstGeom>
          <a:noFill/>
          <a:ln/>
        </p:spPr>
        <p:txBody>
          <a:bodyPr wrap="square" rtlCol="0" anchor="ctr"/>
          <a:lstStyle/>
          <a:p>
            <a:pPr marL="0" indent="0">
              <a:buNone/>
            </a:pPr>
            <a:r>
              <a:rPr lang="en-US" sz="1300" dirty="0">
                <a:solidFill>
                  <a:srgbClr val="F8FAFC"/>
                </a:solidFill>
                <a:latin typeface="Calibri" pitchFamily="34" charset="0"/>
                <a:ea typeface="Calibri" pitchFamily="34" charset="-122"/>
                <a:cs typeface="Calibri" pitchFamily="34" charset="-120"/>
              </a:rPr>
              <a:t>AfriTalent connecte les freelances africains qualifiés avec des entreprises du monde entier.</a:t>
            </a:r>
            <a:endParaRPr lang="en-US" sz="1300" dirty="0"/>
          </a:p>
        </p:txBody>
      </p:sp>
      <p:sp>
        <p:nvSpPr>
          <p:cNvPr id="10" name="Shape 8"/>
          <p:cNvSpPr/>
          <p:nvPr/>
        </p:nvSpPr>
        <p:spPr>
          <a:xfrm>
            <a:off x="4754880" y="1143000"/>
            <a:ext cx="4023360" cy="3474720"/>
          </a:xfrm>
          <a:prstGeom prst="roundRect">
            <a:avLst>
              <a:gd name="adj" fmla="val 3947"/>
            </a:avLst>
          </a:prstGeom>
          <a:solidFill>
            <a:srgbClr val="1A2744"/>
          </a:solidFill>
          <a:ln w="12700">
            <a:solidFill>
              <a:srgbClr val="0D9488">
                <a:alpha val="50000"/>
              </a:srgbClr>
            </a:solidFill>
            <a:prstDash val="solid"/>
          </a:ln>
          <a:effectLst>
            <a:outerShdw blurRad="101600" dist="38100" dir="2700000" algn="bl" rotWithShape="0">
              <a:srgbClr val="000000">
                <a:alpha val="18000"/>
              </a:srgbClr>
            </a:outerShdw>
          </a:effectLst>
        </p:spPr>
      </p:sp>
      <p:sp>
        <p:nvSpPr>
          <p:cNvPr id="11" name="Text 9"/>
          <p:cNvSpPr/>
          <p:nvPr/>
        </p:nvSpPr>
        <p:spPr>
          <a:xfrm>
            <a:off x="4937760" y="1325880"/>
            <a:ext cx="3657600" cy="457200"/>
          </a:xfrm>
          <a:prstGeom prst="rect">
            <a:avLst/>
          </a:prstGeom>
          <a:noFill/>
          <a:ln/>
        </p:spPr>
        <p:txBody>
          <a:bodyPr wrap="square" rtlCol="0" anchor="ctr"/>
          <a:lstStyle/>
          <a:p>
            <a:pPr marL="0" indent="0">
              <a:buNone/>
            </a:pPr>
            <a:r>
              <a:rPr lang="en-US" sz="1600" b="1" dirty="0">
                <a:solidFill>
                  <a:srgbClr val="0D9488"/>
                </a:solidFill>
                <a:latin typeface="Cambria" pitchFamily="34" charset="0"/>
                <a:ea typeface="Cambria" pitchFamily="34" charset="-122"/>
                <a:cs typeface="Cambria" pitchFamily="34" charset="-120"/>
              </a:rPr>
              <a:t>🎯  Objectifs</a:t>
            </a:r>
            <a:endParaRPr lang="en-US" sz="1600" dirty="0"/>
          </a:p>
        </p:txBody>
      </p:sp>
      <p:sp>
        <p:nvSpPr>
          <p:cNvPr id="12" name="Shape 10"/>
          <p:cNvSpPr/>
          <p:nvPr/>
        </p:nvSpPr>
        <p:spPr>
          <a:xfrm>
            <a:off x="4937760" y="1920240"/>
            <a:ext cx="201168" cy="201168"/>
          </a:xfrm>
          <a:prstGeom prst="ellipse">
            <a:avLst/>
          </a:prstGeom>
          <a:solidFill>
            <a:srgbClr val="0D9488"/>
          </a:solidFill>
          <a:ln w="12700">
            <a:solidFill>
              <a:srgbClr val="0D9488"/>
            </a:solidFill>
            <a:prstDash val="solid"/>
          </a:ln>
        </p:spPr>
      </p:sp>
      <p:sp>
        <p:nvSpPr>
          <p:cNvPr id="13" name="Text 11"/>
          <p:cNvSpPr/>
          <p:nvPr/>
        </p:nvSpPr>
        <p:spPr>
          <a:xfrm>
            <a:off x="5212080" y="1874520"/>
            <a:ext cx="3383280" cy="457200"/>
          </a:xfrm>
          <a:prstGeom prst="rect">
            <a:avLst/>
          </a:prstGeom>
          <a:noFill/>
          <a:ln/>
        </p:spPr>
        <p:txBody>
          <a:bodyPr wrap="square" rtlCol="0" anchor="ctr"/>
          <a:lstStyle/>
          <a:p>
            <a:pPr marL="0" indent="0">
              <a:buNone/>
            </a:pPr>
            <a:r>
              <a:rPr lang="en-US" sz="1300" dirty="0">
                <a:solidFill>
                  <a:srgbClr val="F8FAFC"/>
                </a:solidFill>
                <a:latin typeface="Calibri" pitchFamily="34" charset="0"/>
                <a:ea typeface="Calibri" pitchFamily="34" charset="-122"/>
                <a:cs typeface="Calibri" pitchFamily="34" charset="-120"/>
              </a:rPr>
              <a:t>Valoriser les talents africains</a:t>
            </a:r>
            <a:endParaRPr lang="en-US" sz="1300" dirty="0"/>
          </a:p>
        </p:txBody>
      </p:sp>
      <p:sp>
        <p:nvSpPr>
          <p:cNvPr id="14" name="Shape 12"/>
          <p:cNvSpPr/>
          <p:nvPr/>
        </p:nvSpPr>
        <p:spPr>
          <a:xfrm>
            <a:off x="4937760" y="2578608"/>
            <a:ext cx="201168" cy="201168"/>
          </a:xfrm>
          <a:prstGeom prst="ellipse">
            <a:avLst/>
          </a:prstGeom>
          <a:solidFill>
            <a:srgbClr val="0D9488"/>
          </a:solidFill>
          <a:ln w="12700">
            <a:solidFill>
              <a:srgbClr val="0D9488"/>
            </a:solidFill>
            <a:prstDash val="solid"/>
          </a:ln>
        </p:spPr>
      </p:sp>
      <p:sp>
        <p:nvSpPr>
          <p:cNvPr id="15" name="Text 13"/>
          <p:cNvSpPr/>
          <p:nvPr/>
        </p:nvSpPr>
        <p:spPr>
          <a:xfrm>
            <a:off x="5212080" y="2532888"/>
            <a:ext cx="3383280" cy="457200"/>
          </a:xfrm>
          <a:prstGeom prst="rect">
            <a:avLst/>
          </a:prstGeom>
          <a:noFill/>
          <a:ln/>
        </p:spPr>
        <p:txBody>
          <a:bodyPr wrap="square" rtlCol="0" anchor="ctr"/>
          <a:lstStyle/>
          <a:p>
            <a:pPr marL="0" indent="0">
              <a:buNone/>
            </a:pPr>
            <a:r>
              <a:rPr lang="en-US" sz="1300" dirty="0">
                <a:solidFill>
                  <a:srgbClr val="F8FAFC"/>
                </a:solidFill>
                <a:latin typeface="Calibri" pitchFamily="34" charset="0"/>
                <a:ea typeface="Calibri" pitchFamily="34" charset="-122"/>
                <a:cs typeface="Calibri" pitchFamily="34" charset="-120"/>
              </a:rPr>
              <a:t>Faciliter le recrutement de freelances</a:t>
            </a:r>
            <a:endParaRPr lang="en-US" sz="1300" dirty="0"/>
          </a:p>
        </p:txBody>
      </p:sp>
      <p:sp>
        <p:nvSpPr>
          <p:cNvPr id="16" name="Shape 14"/>
          <p:cNvSpPr/>
          <p:nvPr/>
        </p:nvSpPr>
        <p:spPr>
          <a:xfrm>
            <a:off x="4937760" y="3236976"/>
            <a:ext cx="201168" cy="201168"/>
          </a:xfrm>
          <a:prstGeom prst="ellipse">
            <a:avLst/>
          </a:prstGeom>
          <a:solidFill>
            <a:srgbClr val="0D9488"/>
          </a:solidFill>
          <a:ln w="12700">
            <a:solidFill>
              <a:srgbClr val="0D9488"/>
            </a:solidFill>
            <a:prstDash val="solid"/>
          </a:ln>
        </p:spPr>
      </p:sp>
      <p:sp>
        <p:nvSpPr>
          <p:cNvPr id="17" name="Text 15"/>
          <p:cNvSpPr/>
          <p:nvPr/>
        </p:nvSpPr>
        <p:spPr>
          <a:xfrm>
            <a:off x="5212080" y="3191256"/>
            <a:ext cx="3383280" cy="457200"/>
          </a:xfrm>
          <a:prstGeom prst="rect">
            <a:avLst/>
          </a:prstGeom>
          <a:noFill/>
          <a:ln/>
        </p:spPr>
        <p:txBody>
          <a:bodyPr wrap="square" rtlCol="0" anchor="ctr"/>
          <a:lstStyle/>
          <a:p>
            <a:pPr marL="0" indent="0">
              <a:buNone/>
            </a:pPr>
            <a:r>
              <a:rPr lang="en-US" sz="1300" dirty="0">
                <a:solidFill>
                  <a:srgbClr val="F8FAFC"/>
                </a:solidFill>
                <a:latin typeface="Calibri" pitchFamily="34" charset="0"/>
                <a:ea typeface="Calibri" pitchFamily="34" charset="-122"/>
                <a:cs typeface="Calibri" pitchFamily="34" charset="-120"/>
              </a:rPr>
              <a:t>Offrir une interface moderne et responsive</a:t>
            </a:r>
            <a:endParaRPr lang="en-US" sz="1300" dirty="0"/>
          </a:p>
        </p:txBody>
      </p:sp>
      <p:sp>
        <p:nvSpPr>
          <p:cNvPr id="18" name="Shape 16"/>
          <p:cNvSpPr/>
          <p:nvPr/>
        </p:nvSpPr>
        <p:spPr>
          <a:xfrm>
            <a:off x="4937760" y="3895344"/>
            <a:ext cx="201168" cy="201168"/>
          </a:xfrm>
          <a:prstGeom prst="ellipse">
            <a:avLst/>
          </a:prstGeom>
          <a:solidFill>
            <a:srgbClr val="0D9488"/>
          </a:solidFill>
          <a:ln w="12700">
            <a:solidFill>
              <a:srgbClr val="0D9488"/>
            </a:solidFill>
            <a:prstDash val="solid"/>
          </a:ln>
        </p:spPr>
      </p:sp>
      <p:sp>
        <p:nvSpPr>
          <p:cNvPr id="19" name="Text 17"/>
          <p:cNvSpPr/>
          <p:nvPr/>
        </p:nvSpPr>
        <p:spPr>
          <a:xfrm>
            <a:off x="5212080" y="3849624"/>
            <a:ext cx="3383280" cy="457200"/>
          </a:xfrm>
          <a:prstGeom prst="rect">
            <a:avLst/>
          </a:prstGeom>
          <a:noFill/>
          <a:ln/>
        </p:spPr>
        <p:txBody>
          <a:bodyPr wrap="square" rtlCol="0" anchor="ctr"/>
          <a:lstStyle/>
          <a:p>
            <a:pPr marL="0" indent="0">
              <a:buNone/>
            </a:pPr>
            <a:r>
              <a:rPr lang="en-US" sz="1300" dirty="0">
                <a:solidFill>
                  <a:srgbClr val="F8FAFC"/>
                </a:solidFill>
                <a:latin typeface="Calibri" pitchFamily="34" charset="0"/>
                <a:ea typeface="Calibri" pitchFamily="34" charset="-122"/>
                <a:cs typeface="Calibri" pitchFamily="34" charset="-120"/>
              </a:rPr>
              <a:t>Expérience utilisateur simple et intuitive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5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7C3AED"/>
          </a:solidFill>
          <a:ln w="12700">
            <a:solidFill>
              <a:srgbClr val="7C3AED"/>
            </a:solidFill>
            <a:prstDash val="solid"/>
          </a:ln>
        </p:spPr>
      </p:sp>
      <p:sp>
        <p:nvSpPr>
          <p:cNvPr id="3" name="Text 1"/>
          <p:cNvSpPr/>
          <p:nvPr/>
        </p:nvSpPr>
        <p:spPr>
          <a:xfrm>
            <a:off x="274320" y="0"/>
            <a:ext cx="8229600" cy="10058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Choix de Design &amp; Palette</a:t>
            </a:r>
            <a:endParaRPr lang="en-US" sz="2800" dirty="0"/>
          </a:p>
        </p:txBody>
      </p:sp>
      <p:sp>
        <p:nvSpPr>
          <p:cNvPr id="4" name="Shape 2"/>
          <p:cNvSpPr/>
          <p:nvPr/>
        </p:nvSpPr>
        <p:spPr>
          <a:xfrm>
            <a:off x="365760" y="1188720"/>
            <a:ext cx="1463040" cy="1280160"/>
          </a:xfrm>
          <a:prstGeom prst="roundRect">
            <a:avLst>
              <a:gd name="adj" fmla="val 8571"/>
            </a:avLst>
          </a:prstGeom>
          <a:ln/>
        </p:spPr>
        <p:style>
          <a:lnRef idx="2">
            <a:schemeClr val="accent3"/>
          </a:lnRef>
          <a:fillRef idx="1">
            <a:schemeClr val="lt1"/>
          </a:fillRef>
          <a:effectRef idx="0">
            <a:schemeClr val="accent3"/>
          </a:effectRef>
          <a:fontRef idx="minor">
            <a:schemeClr val="dk1"/>
          </a:fontRef>
        </p:style>
      </p:sp>
      <p:sp>
        <p:nvSpPr>
          <p:cNvPr id="5" name="Text 3"/>
          <p:cNvSpPr/>
          <p:nvPr/>
        </p:nvSpPr>
        <p:spPr>
          <a:xfrm>
            <a:off x="365760" y="2656332"/>
            <a:ext cx="1463040" cy="320040"/>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White</a:t>
            </a:r>
          </a:p>
          <a:p>
            <a:pPr marL="0" indent="0" algn="ctr">
              <a:buNone/>
            </a:pPr>
            <a:r>
              <a:rPr lang="en-US" sz="1000" b="1" dirty="0" err="1">
                <a:solidFill>
                  <a:srgbClr val="1E293B"/>
                </a:solidFill>
                <a:latin typeface="Calibri" pitchFamily="34" charset="0"/>
                <a:ea typeface="Calibri" pitchFamily="34" charset="-122"/>
                <a:cs typeface="Calibri" pitchFamily="34" charset="-120"/>
              </a:rPr>
              <a:t>fffffff</a:t>
            </a:r>
            <a:endParaRPr lang="en-US" sz="1000" dirty="0"/>
          </a:p>
        </p:txBody>
      </p:sp>
      <p:sp>
        <p:nvSpPr>
          <p:cNvPr id="6" name="Text 4"/>
          <p:cNvSpPr/>
          <p:nvPr/>
        </p:nvSpPr>
        <p:spPr>
          <a:xfrm>
            <a:off x="365760" y="2816352"/>
            <a:ext cx="1463040" cy="256032"/>
          </a:xfrm>
          <a:prstGeom prst="rect">
            <a:avLst/>
          </a:prstGeom>
          <a:noFill/>
          <a:ln/>
        </p:spPr>
        <p:txBody>
          <a:bodyPr wrap="square" rtlCol="0" anchor="ctr"/>
          <a:lstStyle/>
          <a:p>
            <a:pPr marL="0" indent="0" algn="ctr">
              <a:buNone/>
            </a:pPr>
            <a:endParaRPr lang="en-US" sz="900" dirty="0"/>
          </a:p>
        </p:txBody>
      </p:sp>
      <p:sp>
        <p:nvSpPr>
          <p:cNvPr id="7" name="Shape 5"/>
          <p:cNvSpPr/>
          <p:nvPr/>
        </p:nvSpPr>
        <p:spPr>
          <a:xfrm>
            <a:off x="2084832" y="1188720"/>
            <a:ext cx="1463040" cy="1280160"/>
          </a:xfrm>
          <a:prstGeom prst="roundRect">
            <a:avLst>
              <a:gd name="adj" fmla="val 8571"/>
            </a:avLst>
          </a:prstGeom>
          <a:ln/>
        </p:spPr>
        <p:style>
          <a:lnRef idx="0">
            <a:schemeClr val="accent1"/>
          </a:lnRef>
          <a:fillRef idx="3">
            <a:schemeClr val="accent1"/>
          </a:fillRef>
          <a:effectRef idx="3">
            <a:schemeClr val="accent1"/>
          </a:effectRef>
          <a:fontRef idx="minor">
            <a:schemeClr val="lt1"/>
          </a:fontRef>
        </p:style>
      </p:sp>
      <p:sp>
        <p:nvSpPr>
          <p:cNvPr id="8" name="Text 6"/>
          <p:cNvSpPr/>
          <p:nvPr/>
        </p:nvSpPr>
        <p:spPr>
          <a:xfrm>
            <a:off x="2084832" y="2542032"/>
            <a:ext cx="1463040" cy="320040"/>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blue</a:t>
            </a:r>
            <a:endParaRPr lang="en-US" sz="1000" dirty="0"/>
          </a:p>
        </p:txBody>
      </p:sp>
      <p:sp>
        <p:nvSpPr>
          <p:cNvPr id="9" name="Text 7"/>
          <p:cNvSpPr/>
          <p:nvPr/>
        </p:nvSpPr>
        <p:spPr>
          <a:xfrm>
            <a:off x="2084832" y="2816352"/>
            <a:ext cx="1463040" cy="256032"/>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#06efd</a:t>
            </a:r>
            <a:endParaRPr lang="en-US" sz="900" dirty="0"/>
          </a:p>
        </p:txBody>
      </p:sp>
      <p:sp>
        <p:nvSpPr>
          <p:cNvPr id="10" name="Shape 8"/>
          <p:cNvSpPr/>
          <p:nvPr/>
        </p:nvSpPr>
        <p:spPr>
          <a:xfrm>
            <a:off x="3803904" y="1188720"/>
            <a:ext cx="1463040" cy="1280160"/>
          </a:xfrm>
          <a:prstGeom prst="roundRect">
            <a:avLst>
              <a:gd name="adj" fmla="val 8571"/>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sp>
      <p:sp>
        <p:nvSpPr>
          <p:cNvPr id="11" name="Text 9"/>
          <p:cNvSpPr/>
          <p:nvPr/>
        </p:nvSpPr>
        <p:spPr>
          <a:xfrm>
            <a:off x="3803904" y="2542032"/>
            <a:ext cx="1463040" cy="320040"/>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Brown</a:t>
            </a:r>
            <a:endParaRPr lang="en-US" sz="1000" dirty="0"/>
          </a:p>
        </p:txBody>
      </p:sp>
      <p:sp>
        <p:nvSpPr>
          <p:cNvPr id="12" name="Text 10"/>
          <p:cNvSpPr/>
          <p:nvPr/>
        </p:nvSpPr>
        <p:spPr>
          <a:xfrm>
            <a:off x="3803904" y="2816352"/>
            <a:ext cx="1463040" cy="256032"/>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#FBBF24</a:t>
            </a:r>
            <a:endParaRPr lang="en-US" sz="900" dirty="0"/>
          </a:p>
        </p:txBody>
      </p:sp>
      <p:sp>
        <p:nvSpPr>
          <p:cNvPr id="13" name="Shape 11"/>
          <p:cNvSpPr/>
          <p:nvPr/>
        </p:nvSpPr>
        <p:spPr>
          <a:xfrm>
            <a:off x="5522976" y="1188720"/>
            <a:ext cx="1463040" cy="1280160"/>
          </a:xfrm>
          <a:prstGeom prst="roundRect">
            <a:avLst>
              <a:gd name="adj" fmla="val 8571"/>
            </a:avLst>
          </a:prstGeom>
          <a:solidFill>
            <a:srgbClr val="0D1B2A"/>
          </a:solidFill>
          <a:ln w="12700">
            <a:solidFill>
              <a:srgbClr val="0D1B2A"/>
            </a:solidFill>
            <a:prstDash val="solid"/>
          </a:ln>
          <a:effectLst>
            <a:outerShdw blurRad="101600" dist="38100" dir="2700000" algn="bl" rotWithShape="0">
              <a:srgbClr val="000000">
                <a:alpha val="18000"/>
              </a:srgbClr>
            </a:outerShdw>
          </a:effectLst>
        </p:spPr>
      </p:sp>
      <p:sp>
        <p:nvSpPr>
          <p:cNvPr id="14" name="Text 12"/>
          <p:cNvSpPr/>
          <p:nvPr/>
        </p:nvSpPr>
        <p:spPr>
          <a:xfrm>
            <a:off x="5522976" y="2542032"/>
            <a:ext cx="1463040" cy="320040"/>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Navy Dark</a:t>
            </a:r>
            <a:endParaRPr lang="en-US" sz="1000" dirty="0"/>
          </a:p>
        </p:txBody>
      </p:sp>
      <p:sp>
        <p:nvSpPr>
          <p:cNvPr id="15" name="Text 13"/>
          <p:cNvSpPr/>
          <p:nvPr/>
        </p:nvSpPr>
        <p:spPr>
          <a:xfrm>
            <a:off x="5522976" y="2816352"/>
            <a:ext cx="1463040" cy="256032"/>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#0D1B2A</a:t>
            </a:r>
            <a:endParaRPr lang="en-US" sz="900" dirty="0"/>
          </a:p>
        </p:txBody>
      </p:sp>
      <p:sp>
        <p:nvSpPr>
          <p:cNvPr id="16" name="Shape 14"/>
          <p:cNvSpPr/>
          <p:nvPr/>
        </p:nvSpPr>
        <p:spPr>
          <a:xfrm>
            <a:off x="7242048" y="1188720"/>
            <a:ext cx="1463040" cy="1280160"/>
          </a:xfrm>
          <a:prstGeom prst="roundRect">
            <a:avLst>
              <a:gd name="adj" fmla="val 8571"/>
            </a:avLst>
          </a:prstGeom>
          <a:noFill/>
          <a:ln>
            <a:noFill/>
          </a:ln>
        </p:spPr>
        <p:style>
          <a:lnRef idx="0">
            <a:scrgbClr r="0" g="0" b="0"/>
          </a:lnRef>
          <a:fillRef idx="0">
            <a:scrgbClr r="0" g="0" b="0"/>
          </a:fillRef>
          <a:effectRef idx="0">
            <a:scrgbClr r="0" g="0" b="0"/>
          </a:effectRef>
          <a:fontRef idx="minor">
            <a:schemeClr val="accent3"/>
          </a:fontRef>
        </p:style>
      </p:sp>
      <p:sp>
        <p:nvSpPr>
          <p:cNvPr id="17" name="Text 15"/>
          <p:cNvSpPr/>
          <p:nvPr/>
        </p:nvSpPr>
        <p:spPr>
          <a:xfrm>
            <a:off x="7223760" y="2552156"/>
            <a:ext cx="1463040" cy="320040"/>
          </a:xfrm>
          <a:prstGeom prst="rect">
            <a:avLst/>
          </a:prstGeom>
          <a:noFill/>
          <a:ln/>
        </p:spPr>
        <p:txBody>
          <a:bodyPr wrap="square" rtlCol="0" anchor="ctr"/>
          <a:lstStyle/>
          <a:p>
            <a:pPr marL="0" indent="0" algn="ctr">
              <a:buNone/>
            </a:pPr>
            <a:endParaRPr lang="en-US" sz="1000" dirty="0"/>
          </a:p>
        </p:txBody>
      </p:sp>
      <p:sp>
        <p:nvSpPr>
          <p:cNvPr id="18" name="Text 16"/>
          <p:cNvSpPr/>
          <p:nvPr/>
        </p:nvSpPr>
        <p:spPr>
          <a:xfrm>
            <a:off x="7242048" y="2816352"/>
            <a:ext cx="1463040" cy="256032"/>
          </a:xfrm>
          <a:prstGeom prst="rect">
            <a:avLst/>
          </a:prstGeom>
          <a:noFill/>
          <a:ln/>
        </p:spPr>
        <p:txBody>
          <a:bodyPr wrap="square" rtlCol="0" anchor="ctr"/>
          <a:lstStyle/>
          <a:p>
            <a:pPr marL="0" indent="0" algn="ctr">
              <a:buNone/>
            </a:pPr>
            <a:endParaRPr lang="en-US" sz="900" dirty="0"/>
          </a:p>
        </p:txBody>
      </p:sp>
      <p:sp>
        <p:nvSpPr>
          <p:cNvPr id="19" name="Shape 17"/>
          <p:cNvSpPr/>
          <p:nvPr/>
        </p:nvSpPr>
        <p:spPr>
          <a:xfrm>
            <a:off x="365760" y="3246120"/>
            <a:ext cx="4114800" cy="1508760"/>
          </a:xfrm>
          <a:prstGeom prst="roundRect">
            <a:avLst>
              <a:gd name="adj" fmla="val 7273"/>
            </a:avLst>
          </a:prstGeom>
          <a:solidFill>
            <a:srgbClr val="EDE9FE"/>
          </a:solidFill>
          <a:ln w="12700">
            <a:solidFill>
              <a:srgbClr val="7C3AED">
                <a:alpha val="40000"/>
              </a:srgbClr>
            </a:solidFill>
            <a:prstDash val="solid"/>
          </a:ln>
        </p:spPr>
      </p:sp>
      <p:sp>
        <p:nvSpPr>
          <p:cNvPr id="20" name="Text 18"/>
          <p:cNvSpPr/>
          <p:nvPr/>
        </p:nvSpPr>
        <p:spPr>
          <a:xfrm>
            <a:off x="548640" y="3337560"/>
            <a:ext cx="3749040" cy="365760"/>
          </a:xfrm>
          <a:prstGeom prst="rect">
            <a:avLst/>
          </a:prstGeom>
          <a:noFill/>
          <a:ln/>
        </p:spPr>
        <p:txBody>
          <a:bodyPr wrap="square" rtlCol="0" anchor="ctr"/>
          <a:lstStyle/>
          <a:p>
            <a:pPr marL="0" indent="0">
              <a:buNone/>
            </a:pPr>
            <a:r>
              <a:rPr lang="en-US" sz="1400" b="1" dirty="0">
                <a:solidFill>
                  <a:srgbClr val="7C3AED"/>
                </a:solidFill>
                <a:latin typeface="Cambria" pitchFamily="34" charset="0"/>
                <a:ea typeface="Cambria" pitchFamily="34" charset="-122"/>
                <a:cs typeface="Cambria" pitchFamily="34" charset="-120"/>
              </a:rPr>
              <a:t>🔤  Polices choisies</a:t>
            </a:r>
            <a:endParaRPr lang="en-US" sz="1400" dirty="0"/>
          </a:p>
        </p:txBody>
      </p:sp>
      <p:sp>
        <p:nvSpPr>
          <p:cNvPr id="21" name="Text 19"/>
          <p:cNvSpPr/>
          <p:nvPr/>
        </p:nvSpPr>
        <p:spPr>
          <a:xfrm>
            <a:off x="548640" y="3749040"/>
            <a:ext cx="3749040" cy="91440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Poppins</a:t>
            </a:r>
            <a:endParaRPr lang="en-US" sz="1200" dirty="0"/>
          </a:p>
          <a:p>
            <a:pPr marL="0" indent="0">
              <a:buNone/>
            </a:pPr>
            <a:r>
              <a:rPr lang="en-US" sz="1100" dirty="0">
                <a:solidFill>
                  <a:srgbClr val="64748B"/>
                </a:solidFill>
                <a:latin typeface="Calibri" pitchFamily="34" charset="0"/>
                <a:ea typeface="Calibri" pitchFamily="34" charset="-122"/>
                <a:cs typeface="Calibri" pitchFamily="34" charset="-120"/>
              </a:rPr>
              <a:t>— Titres &amp; logo (moderne, arrondi)
</a:t>
            </a:r>
            <a:r>
              <a:rPr lang="en-US" sz="1200" b="1" dirty="0">
                <a:solidFill>
                  <a:srgbClr val="1E293B"/>
                </a:solidFill>
                <a:latin typeface="Calibri" pitchFamily="34" charset="0"/>
                <a:ea typeface="Calibri" pitchFamily="34" charset="-122"/>
                <a:cs typeface="Calibri" pitchFamily="34" charset="-120"/>
              </a:rPr>
              <a:t>Roboto</a:t>
            </a:r>
            <a:r>
              <a:rPr lang="en-US" sz="1100" dirty="0">
                <a:solidFill>
                  <a:srgbClr val="64748B"/>
                </a:solidFill>
                <a:latin typeface="Calibri" pitchFamily="34" charset="0"/>
                <a:ea typeface="Calibri" pitchFamily="34" charset="-122"/>
                <a:cs typeface="Calibri" pitchFamily="34" charset="-120"/>
              </a:rPr>
              <a:t> — Corps de texte (lisible, épuré)</a:t>
            </a:r>
            <a:endParaRPr lang="en-US" sz="1200" dirty="0"/>
          </a:p>
        </p:txBody>
      </p:sp>
      <p:sp>
        <p:nvSpPr>
          <p:cNvPr id="22" name="Shape 20"/>
          <p:cNvSpPr/>
          <p:nvPr/>
        </p:nvSpPr>
        <p:spPr>
          <a:xfrm>
            <a:off x="4754880" y="3246120"/>
            <a:ext cx="4114800" cy="1508760"/>
          </a:xfrm>
          <a:prstGeom prst="roundRect">
            <a:avLst>
              <a:gd name="adj" fmla="val 7273"/>
            </a:avLst>
          </a:prstGeom>
          <a:solidFill>
            <a:srgbClr val="FFF7ED"/>
          </a:solidFill>
          <a:ln w="12700">
            <a:solidFill>
              <a:srgbClr val="F97316">
                <a:alpha val="40000"/>
              </a:srgbClr>
            </a:solidFill>
            <a:prstDash val="solid"/>
          </a:ln>
        </p:spPr>
      </p:sp>
      <p:sp>
        <p:nvSpPr>
          <p:cNvPr id="23" name="Text 21"/>
          <p:cNvSpPr/>
          <p:nvPr/>
        </p:nvSpPr>
        <p:spPr>
          <a:xfrm>
            <a:off x="4937760" y="3337560"/>
            <a:ext cx="3749040" cy="365760"/>
          </a:xfrm>
          <a:prstGeom prst="rect">
            <a:avLst/>
          </a:prstGeom>
          <a:noFill/>
          <a:ln/>
        </p:spPr>
        <p:txBody>
          <a:bodyPr wrap="square" rtlCol="0" anchor="ctr"/>
          <a:lstStyle/>
          <a:p>
            <a:pPr marL="0" indent="0">
              <a:buNone/>
            </a:pPr>
            <a:r>
              <a:rPr lang="en-US" sz="1400" b="1" dirty="0">
                <a:solidFill>
                  <a:srgbClr val="F97316"/>
                </a:solidFill>
                <a:latin typeface="Cambria" pitchFamily="34" charset="0"/>
                <a:ea typeface="Cambria" pitchFamily="34" charset="-122"/>
                <a:cs typeface="Cambria" pitchFamily="34" charset="-120"/>
              </a:rPr>
              <a:t>✨  Inspirations</a:t>
            </a:r>
            <a:endParaRPr lang="en-US" sz="1400" dirty="0"/>
          </a:p>
        </p:txBody>
      </p:sp>
      <p:sp>
        <p:nvSpPr>
          <p:cNvPr id="24" name="Text 22"/>
          <p:cNvSpPr/>
          <p:nvPr/>
        </p:nvSpPr>
        <p:spPr>
          <a:xfrm>
            <a:off x="4937760" y="3730752"/>
            <a:ext cx="3749040" cy="3200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Malt.fr — marketplace freelance</a:t>
            </a:r>
            <a:endParaRPr lang="en-US" sz="1200" dirty="0"/>
          </a:p>
        </p:txBody>
      </p:sp>
      <p:sp>
        <p:nvSpPr>
          <p:cNvPr id="25" name="Text 23"/>
          <p:cNvSpPr/>
          <p:nvPr/>
        </p:nvSpPr>
        <p:spPr>
          <a:xfrm>
            <a:off x="4937760" y="4069080"/>
            <a:ext cx="3749040" cy="3200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Behance — design moderne</a:t>
            </a:r>
            <a:endParaRPr lang="en-US" sz="1200" dirty="0"/>
          </a:p>
        </p:txBody>
      </p:sp>
      <p:sp>
        <p:nvSpPr>
          <p:cNvPr id="26" name="Text 24"/>
          <p:cNvSpPr/>
          <p:nvPr/>
        </p:nvSpPr>
        <p:spPr>
          <a:xfrm>
            <a:off x="4937760" y="4407408"/>
            <a:ext cx="3749040" cy="3200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Afrikazon — identité africaine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9488"/>
          </a:solidFill>
          <a:ln w="12700">
            <a:solidFill>
              <a:srgbClr val="0D9488"/>
            </a:solidFill>
            <a:prstDash val="solid"/>
          </a:ln>
        </p:spPr>
      </p:sp>
      <p:sp>
        <p:nvSpPr>
          <p:cNvPr id="3" name="Text 1"/>
          <p:cNvSpPr/>
          <p:nvPr/>
        </p:nvSpPr>
        <p:spPr>
          <a:xfrm>
            <a:off x="274320" y="0"/>
            <a:ext cx="8229600" cy="10058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Architecture du Site</a:t>
            </a:r>
            <a:endParaRPr lang="en-US" sz="2800" dirty="0"/>
          </a:p>
        </p:txBody>
      </p:sp>
      <p:sp>
        <p:nvSpPr>
          <p:cNvPr id="4" name="Shape 2"/>
          <p:cNvSpPr/>
          <p:nvPr/>
        </p:nvSpPr>
        <p:spPr>
          <a:xfrm>
            <a:off x="3383280" y="1280160"/>
            <a:ext cx="2377440" cy="685800"/>
          </a:xfrm>
          <a:prstGeom prst="roundRect">
            <a:avLst>
              <a:gd name="adj" fmla="val 20000"/>
            </a:avLst>
          </a:prstGeom>
          <a:solidFill>
            <a:srgbClr val="0D9488"/>
          </a:solidFill>
          <a:ln w="12700">
            <a:solidFill>
              <a:srgbClr val="0D9488"/>
            </a:solidFill>
            <a:prstDash val="solid"/>
          </a:ln>
          <a:effectLst>
            <a:outerShdw blurRad="101600" dist="38100" dir="2700000" algn="bl" rotWithShape="0">
              <a:srgbClr val="000000">
                <a:alpha val="18000"/>
              </a:srgbClr>
            </a:outerShdw>
          </a:effectLst>
        </p:spPr>
      </p:sp>
      <p:sp>
        <p:nvSpPr>
          <p:cNvPr id="5" name="Text 3"/>
          <p:cNvSpPr/>
          <p:nvPr/>
        </p:nvSpPr>
        <p:spPr>
          <a:xfrm>
            <a:off x="3383280" y="1280160"/>
            <a:ext cx="2377440" cy="6858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  AfriTalent</a:t>
            </a:r>
            <a:endParaRPr lang="en-US" sz="1600" dirty="0"/>
          </a:p>
        </p:txBody>
      </p:sp>
      <p:sp>
        <p:nvSpPr>
          <p:cNvPr id="6" name="Shape 4"/>
          <p:cNvSpPr/>
          <p:nvPr/>
        </p:nvSpPr>
        <p:spPr>
          <a:xfrm>
            <a:off x="274320" y="2560320"/>
            <a:ext cx="2011680" cy="594360"/>
          </a:xfrm>
          <a:prstGeom prst="roundRect">
            <a:avLst>
              <a:gd name="adj" fmla="val 15385"/>
            </a:avLst>
          </a:prstGeom>
          <a:solidFill>
            <a:srgbClr val="F97316">
              <a:alpha val="85000"/>
            </a:srgbClr>
          </a:solidFill>
          <a:ln w="12700">
            <a:solidFill>
              <a:srgbClr val="F97316"/>
            </a:solidFill>
            <a:prstDash val="solid"/>
          </a:ln>
          <a:effectLst>
            <a:outerShdw blurRad="101600" dist="38100" dir="2700000" algn="bl" rotWithShape="0">
              <a:srgbClr val="000000">
                <a:alpha val="18000"/>
              </a:srgbClr>
            </a:outerShdw>
          </a:effectLst>
        </p:spPr>
      </p:sp>
      <p:sp>
        <p:nvSpPr>
          <p:cNvPr id="7" name="Text 5"/>
          <p:cNvSpPr/>
          <p:nvPr/>
        </p:nvSpPr>
        <p:spPr>
          <a:xfrm>
            <a:off x="274320" y="2560320"/>
            <a:ext cx="201168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Accueil</a:t>
            </a:r>
            <a:endParaRPr lang="en-US" sz="1300" dirty="0"/>
          </a:p>
        </p:txBody>
      </p:sp>
      <p:sp>
        <p:nvSpPr>
          <p:cNvPr id="8" name="Shape 6"/>
          <p:cNvSpPr/>
          <p:nvPr/>
        </p:nvSpPr>
        <p:spPr>
          <a:xfrm>
            <a:off x="1828800" y="3840480"/>
            <a:ext cx="2011680" cy="594360"/>
          </a:xfrm>
          <a:prstGeom prst="roundRect">
            <a:avLst>
              <a:gd name="adj" fmla="val 15385"/>
            </a:avLst>
          </a:prstGeom>
          <a:solidFill>
            <a:srgbClr val="7C3AED">
              <a:alpha val="85000"/>
            </a:srgbClr>
          </a:solidFill>
          <a:ln w="12700">
            <a:solidFill>
              <a:srgbClr val="7C3AED"/>
            </a:solidFill>
            <a:prstDash val="solid"/>
          </a:ln>
          <a:effectLst>
            <a:outerShdw blurRad="101600" dist="38100" dir="2700000" algn="bl" rotWithShape="0">
              <a:srgbClr val="000000">
                <a:alpha val="18000"/>
              </a:srgbClr>
            </a:outerShdw>
          </a:effectLst>
        </p:spPr>
      </p:sp>
      <p:sp>
        <p:nvSpPr>
          <p:cNvPr id="9" name="Text 7"/>
          <p:cNvSpPr/>
          <p:nvPr/>
        </p:nvSpPr>
        <p:spPr>
          <a:xfrm>
            <a:off x="1828800" y="3840480"/>
            <a:ext cx="201168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Freelances</a:t>
            </a:r>
            <a:endParaRPr lang="en-US" sz="1300" dirty="0"/>
          </a:p>
        </p:txBody>
      </p:sp>
      <p:sp>
        <p:nvSpPr>
          <p:cNvPr id="10" name="Shape 8"/>
          <p:cNvSpPr/>
          <p:nvPr/>
        </p:nvSpPr>
        <p:spPr>
          <a:xfrm>
            <a:off x="4297682" y="4206240"/>
            <a:ext cx="2011680" cy="594360"/>
          </a:xfrm>
          <a:prstGeom prst="roundRect">
            <a:avLst>
              <a:gd name="adj" fmla="val 15385"/>
            </a:avLst>
          </a:prstGeom>
          <a:solidFill>
            <a:srgbClr val="F59E0B">
              <a:alpha val="85000"/>
            </a:srgbClr>
          </a:solidFill>
          <a:ln w="12700">
            <a:solidFill>
              <a:srgbClr val="F59E0B"/>
            </a:solidFill>
            <a:prstDash val="solid"/>
          </a:ln>
          <a:effectLst>
            <a:outerShdw blurRad="101600" dist="38100" dir="2700000" algn="bl" rotWithShape="0">
              <a:srgbClr val="000000">
                <a:alpha val="18000"/>
              </a:srgbClr>
            </a:outerShdw>
          </a:effectLst>
        </p:spPr>
      </p:sp>
      <p:sp>
        <p:nvSpPr>
          <p:cNvPr id="11" name="Text 9"/>
          <p:cNvSpPr/>
          <p:nvPr/>
        </p:nvSpPr>
        <p:spPr>
          <a:xfrm>
            <a:off x="3657600" y="4206240"/>
            <a:ext cx="201168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Tarifs</a:t>
            </a:r>
            <a:endParaRPr lang="en-US" sz="1300" dirty="0"/>
          </a:p>
        </p:txBody>
      </p:sp>
      <p:sp>
        <p:nvSpPr>
          <p:cNvPr id="13" name="Text 11"/>
          <p:cNvSpPr/>
          <p:nvPr/>
        </p:nvSpPr>
        <p:spPr>
          <a:xfrm>
            <a:off x="5577840" y="3840480"/>
            <a:ext cx="2011680" cy="594360"/>
          </a:xfrm>
          <a:prstGeom prst="rect">
            <a:avLst/>
          </a:prstGeom>
          <a:noFill/>
          <a:ln/>
        </p:spPr>
        <p:txBody>
          <a:bodyPr wrap="square" rtlCol="0" anchor="ctr"/>
          <a:lstStyle/>
          <a:p>
            <a:pPr marL="0" indent="0" algn="ctr">
              <a:buNone/>
            </a:pPr>
            <a:endParaRPr lang="en-US" sz="1300" dirty="0"/>
          </a:p>
        </p:txBody>
      </p:sp>
      <p:sp>
        <p:nvSpPr>
          <p:cNvPr id="14" name="Shape 12"/>
          <p:cNvSpPr/>
          <p:nvPr/>
        </p:nvSpPr>
        <p:spPr>
          <a:xfrm>
            <a:off x="6858000" y="2560320"/>
            <a:ext cx="2011680" cy="594360"/>
          </a:xfrm>
          <a:prstGeom prst="roundRect">
            <a:avLst>
              <a:gd name="adj" fmla="val 15385"/>
            </a:avLst>
          </a:prstGeom>
          <a:solidFill>
            <a:srgbClr val="0D9488">
              <a:alpha val="85000"/>
            </a:srgbClr>
          </a:solidFill>
          <a:ln w="12700">
            <a:solidFill>
              <a:srgbClr val="0D9488"/>
            </a:solidFill>
            <a:prstDash val="solid"/>
          </a:ln>
          <a:effectLst>
            <a:outerShdw blurRad="101600" dist="38100" dir="2700000" algn="bl" rotWithShape="0">
              <a:srgbClr val="000000">
                <a:alpha val="18000"/>
              </a:srgbClr>
            </a:outerShdw>
          </a:effectLst>
        </p:spPr>
      </p:sp>
      <p:sp>
        <p:nvSpPr>
          <p:cNvPr id="15" name="Text 13"/>
          <p:cNvSpPr/>
          <p:nvPr/>
        </p:nvSpPr>
        <p:spPr>
          <a:xfrm>
            <a:off x="6858000" y="2560320"/>
            <a:ext cx="201168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ℹ️ À propos</a:t>
            </a:r>
            <a:endParaRPr lang="en-US" sz="1300" dirty="0"/>
          </a:p>
        </p:txBody>
      </p:sp>
      <p:sp>
        <p:nvSpPr>
          <p:cNvPr id="16" name="Shape 14"/>
          <p:cNvSpPr/>
          <p:nvPr/>
        </p:nvSpPr>
        <p:spPr>
          <a:xfrm>
            <a:off x="3657600" y="2651760"/>
            <a:ext cx="2011680" cy="594360"/>
          </a:xfrm>
          <a:prstGeom prst="roundRect">
            <a:avLst>
              <a:gd name="adj" fmla="val 15385"/>
            </a:avLst>
          </a:prstGeom>
          <a:solidFill>
            <a:srgbClr val="059669">
              <a:alpha val="85000"/>
            </a:srgbClr>
          </a:solidFill>
          <a:ln w="12700">
            <a:solidFill>
              <a:srgbClr val="059669"/>
            </a:solidFill>
            <a:prstDash val="solid"/>
          </a:ln>
          <a:effectLst>
            <a:outerShdw blurRad="101600" dist="38100" dir="2700000" algn="bl" rotWithShape="0">
              <a:srgbClr val="000000">
                <a:alpha val="18000"/>
              </a:srgbClr>
            </a:outerShdw>
          </a:effectLst>
        </p:spPr>
      </p:sp>
      <p:sp>
        <p:nvSpPr>
          <p:cNvPr id="17" name="Text 15"/>
          <p:cNvSpPr/>
          <p:nvPr/>
        </p:nvSpPr>
        <p:spPr>
          <a:xfrm>
            <a:off x="3657600" y="2651760"/>
            <a:ext cx="201168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Contact</a:t>
            </a:r>
            <a:endParaRPr lang="en-US" sz="1300" dirty="0"/>
          </a:p>
        </p:txBody>
      </p:sp>
      <p:sp>
        <p:nvSpPr>
          <p:cNvPr id="18" name="Shape 16"/>
          <p:cNvSpPr/>
          <p:nvPr/>
        </p:nvSpPr>
        <p:spPr>
          <a:xfrm>
            <a:off x="274320" y="1188720"/>
            <a:ext cx="2560320" cy="1371600"/>
          </a:xfrm>
          <a:prstGeom prst="roundRect">
            <a:avLst>
              <a:gd name="adj" fmla="val 6667"/>
            </a:avLst>
          </a:prstGeom>
          <a:solidFill>
            <a:srgbClr val="E0F2FE"/>
          </a:solidFill>
          <a:ln w="12700">
            <a:solidFill>
              <a:srgbClr val="0284C7">
                <a:alpha val="50000"/>
              </a:srgbClr>
            </a:solidFill>
            <a:prstDash val="solid"/>
          </a:ln>
        </p:spPr>
      </p:sp>
      <p:sp>
        <p:nvSpPr>
          <p:cNvPr id="19" name="Text 17"/>
          <p:cNvSpPr/>
          <p:nvPr/>
        </p:nvSpPr>
        <p:spPr>
          <a:xfrm>
            <a:off x="365760" y="1234440"/>
            <a:ext cx="2377440" cy="365760"/>
          </a:xfrm>
          <a:prstGeom prst="rect">
            <a:avLst/>
          </a:prstGeom>
          <a:noFill/>
          <a:ln/>
        </p:spPr>
        <p:txBody>
          <a:bodyPr wrap="square" rtlCol="0" anchor="ctr"/>
          <a:lstStyle/>
          <a:p>
            <a:pPr marL="0" indent="0">
              <a:buNone/>
            </a:pPr>
            <a:r>
              <a:rPr lang="en-US" sz="1200" b="1" dirty="0">
                <a:solidFill>
                  <a:srgbClr val="0284C7"/>
                </a:solidFill>
                <a:latin typeface="Cambria" pitchFamily="34" charset="0"/>
                <a:ea typeface="Cambria" pitchFamily="34" charset="-122"/>
                <a:cs typeface="Cambria" pitchFamily="34" charset="-120"/>
              </a:rPr>
              <a:t>📁 Structure fichiers</a:t>
            </a:r>
            <a:endParaRPr lang="en-US" sz="1200" dirty="0"/>
          </a:p>
        </p:txBody>
      </p:sp>
      <p:sp>
        <p:nvSpPr>
          <p:cNvPr id="20" name="Text 18"/>
          <p:cNvSpPr/>
          <p:nvPr/>
        </p:nvSpPr>
        <p:spPr>
          <a:xfrm>
            <a:off x="365760" y="1600200"/>
            <a:ext cx="2377440" cy="914400"/>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index.html</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freelances.html</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tarifs.html</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blog.html   about.html</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contact.html</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css/style.css</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js/main.js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914400" y="3657600"/>
            <a:ext cx="3657600" cy="3657600"/>
          </a:xfrm>
          <a:prstGeom prst="ellipse">
            <a:avLst/>
          </a:prstGeom>
          <a:solidFill>
            <a:srgbClr val="4338CA">
              <a:alpha val="20000"/>
            </a:srgbClr>
          </a:solidFill>
          <a:ln w="12700">
            <a:solidFill>
              <a:srgbClr val="4338CA">
                <a:alpha val="20000"/>
              </a:srgbClr>
            </a:solidFill>
            <a:prstDash val="solid"/>
          </a:ln>
        </p:spPr>
      </p:sp>
      <p:sp>
        <p:nvSpPr>
          <p:cNvPr id="3" name="Shape 1"/>
          <p:cNvSpPr/>
          <p:nvPr/>
        </p:nvSpPr>
        <p:spPr>
          <a:xfrm>
            <a:off x="7772400" y="-457200"/>
            <a:ext cx="2743200" cy="2743200"/>
          </a:xfrm>
          <a:prstGeom prst="ellipse">
            <a:avLst/>
          </a:prstGeom>
          <a:solidFill>
            <a:srgbClr val="0D9488">
              <a:alpha val="20000"/>
            </a:srgbClr>
          </a:solidFill>
          <a:ln w="12700">
            <a:solidFill>
              <a:srgbClr val="0D9488">
                <a:alpha val="20000"/>
              </a:srgbClr>
            </a:solidFill>
            <a:prstDash val="solid"/>
          </a:ln>
        </p:spPr>
      </p:sp>
      <p:sp>
        <p:nvSpPr>
          <p:cNvPr id="4" name="Text 2"/>
          <p:cNvSpPr/>
          <p:nvPr/>
        </p:nvSpPr>
        <p:spPr>
          <a:xfrm>
            <a:off x="457200" y="182880"/>
            <a:ext cx="822960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  Technologies Utilisées</a:t>
            </a:r>
            <a:endParaRPr lang="en-US" sz="3000" dirty="0"/>
          </a:p>
        </p:txBody>
      </p:sp>
      <p:sp>
        <p:nvSpPr>
          <p:cNvPr id="5" name="Shape 3"/>
          <p:cNvSpPr/>
          <p:nvPr/>
        </p:nvSpPr>
        <p:spPr>
          <a:xfrm>
            <a:off x="365760" y="1051560"/>
            <a:ext cx="2743200" cy="1737360"/>
          </a:xfrm>
          <a:prstGeom prst="roundRect">
            <a:avLst>
              <a:gd name="adj" fmla="val 7368"/>
            </a:avLst>
          </a:prstGeom>
          <a:solidFill>
            <a:srgbClr val="243447"/>
          </a:solidFill>
          <a:ln w="12700">
            <a:solidFill>
              <a:srgbClr val="E44D26">
                <a:alpha val="60000"/>
              </a:srgbClr>
            </a:solidFill>
            <a:prstDash val="solid"/>
          </a:ln>
          <a:effectLst>
            <a:outerShdw blurRad="101600" dist="38100" dir="2700000" algn="bl" rotWithShape="0">
              <a:srgbClr val="000000">
                <a:alpha val="18000"/>
              </a:srgbClr>
            </a:outerShdw>
          </a:effectLst>
        </p:spPr>
      </p:sp>
      <p:sp>
        <p:nvSpPr>
          <p:cNvPr id="6" name="Shape 4"/>
          <p:cNvSpPr/>
          <p:nvPr/>
        </p:nvSpPr>
        <p:spPr>
          <a:xfrm>
            <a:off x="502920" y="1216152"/>
            <a:ext cx="502920" cy="502920"/>
          </a:xfrm>
          <a:prstGeom prst="ellipse">
            <a:avLst/>
          </a:prstGeom>
          <a:solidFill>
            <a:srgbClr val="E44D26"/>
          </a:solidFill>
          <a:ln w="12700">
            <a:solidFill>
              <a:srgbClr val="E44D26"/>
            </a:solidFill>
            <a:prstDash val="solid"/>
          </a:ln>
        </p:spPr>
      </p:sp>
      <p:sp>
        <p:nvSpPr>
          <p:cNvPr id="7" name="Text 5"/>
          <p:cNvSpPr/>
          <p:nvPr/>
        </p:nvSpPr>
        <p:spPr>
          <a:xfrm>
            <a:off x="484632" y="1188720"/>
            <a:ext cx="548640" cy="53035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8" name="Text 6"/>
          <p:cNvSpPr/>
          <p:nvPr/>
        </p:nvSpPr>
        <p:spPr>
          <a:xfrm>
            <a:off x="1097280" y="1234440"/>
            <a:ext cx="1828800" cy="4114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HTML5</a:t>
            </a:r>
            <a:endParaRPr lang="en-US" sz="1400" dirty="0"/>
          </a:p>
        </p:txBody>
      </p:sp>
      <p:sp>
        <p:nvSpPr>
          <p:cNvPr id="9" name="Text 7"/>
          <p:cNvSpPr/>
          <p:nvPr/>
        </p:nvSpPr>
        <p:spPr>
          <a:xfrm>
            <a:off x="502920" y="1783080"/>
            <a:ext cx="2468880" cy="82296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Structure sémantique de toutes les pages</a:t>
            </a:r>
            <a:endParaRPr lang="en-US" sz="1100" dirty="0"/>
          </a:p>
        </p:txBody>
      </p:sp>
      <p:sp>
        <p:nvSpPr>
          <p:cNvPr id="10" name="Shape 8"/>
          <p:cNvSpPr/>
          <p:nvPr/>
        </p:nvSpPr>
        <p:spPr>
          <a:xfrm>
            <a:off x="3291840" y="1051560"/>
            <a:ext cx="2743200" cy="1737360"/>
          </a:xfrm>
          <a:prstGeom prst="roundRect">
            <a:avLst>
              <a:gd name="adj" fmla="val 7368"/>
            </a:avLst>
          </a:prstGeom>
          <a:solidFill>
            <a:srgbClr val="243447"/>
          </a:solidFill>
          <a:ln w="12700">
            <a:solidFill>
              <a:srgbClr val="1572B6">
                <a:alpha val="60000"/>
              </a:srgbClr>
            </a:solidFill>
            <a:prstDash val="solid"/>
          </a:ln>
          <a:effectLst>
            <a:outerShdw blurRad="101600" dist="38100" dir="2700000" algn="bl" rotWithShape="0">
              <a:srgbClr val="000000">
                <a:alpha val="18000"/>
              </a:srgbClr>
            </a:outerShdw>
          </a:effectLst>
        </p:spPr>
      </p:sp>
      <p:sp>
        <p:nvSpPr>
          <p:cNvPr id="11" name="Shape 9"/>
          <p:cNvSpPr/>
          <p:nvPr/>
        </p:nvSpPr>
        <p:spPr>
          <a:xfrm>
            <a:off x="3429000" y="1216152"/>
            <a:ext cx="502920" cy="502920"/>
          </a:xfrm>
          <a:prstGeom prst="ellipse">
            <a:avLst/>
          </a:prstGeom>
          <a:solidFill>
            <a:srgbClr val="1572B6"/>
          </a:solidFill>
          <a:ln w="12700">
            <a:solidFill>
              <a:srgbClr val="1572B6"/>
            </a:solidFill>
            <a:prstDash val="solid"/>
          </a:ln>
        </p:spPr>
      </p:sp>
      <p:sp>
        <p:nvSpPr>
          <p:cNvPr id="12" name="Text 10"/>
          <p:cNvSpPr/>
          <p:nvPr/>
        </p:nvSpPr>
        <p:spPr>
          <a:xfrm>
            <a:off x="3410712" y="1188720"/>
            <a:ext cx="548640" cy="53035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3" name="Text 11"/>
          <p:cNvSpPr/>
          <p:nvPr/>
        </p:nvSpPr>
        <p:spPr>
          <a:xfrm>
            <a:off x="4023360" y="1234440"/>
            <a:ext cx="1828800" cy="4114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CSS3</a:t>
            </a:r>
            <a:endParaRPr lang="en-US" sz="1400" dirty="0"/>
          </a:p>
        </p:txBody>
      </p:sp>
      <p:sp>
        <p:nvSpPr>
          <p:cNvPr id="14" name="Text 12"/>
          <p:cNvSpPr/>
          <p:nvPr/>
        </p:nvSpPr>
        <p:spPr>
          <a:xfrm>
            <a:off x="3429000" y="1783080"/>
            <a:ext cx="2468880" cy="82296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Variables CSS, animations, media queries</a:t>
            </a:r>
            <a:endParaRPr lang="en-US" sz="1100" dirty="0"/>
          </a:p>
        </p:txBody>
      </p:sp>
      <p:sp>
        <p:nvSpPr>
          <p:cNvPr id="15" name="Shape 13"/>
          <p:cNvSpPr/>
          <p:nvPr/>
        </p:nvSpPr>
        <p:spPr>
          <a:xfrm>
            <a:off x="6217920" y="1051560"/>
            <a:ext cx="2743200" cy="1737360"/>
          </a:xfrm>
          <a:prstGeom prst="roundRect">
            <a:avLst>
              <a:gd name="adj" fmla="val 7368"/>
            </a:avLst>
          </a:prstGeom>
          <a:solidFill>
            <a:srgbClr val="243447"/>
          </a:solidFill>
          <a:ln w="12700">
            <a:solidFill>
              <a:srgbClr val="F7DF1E">
                <a:alpha val="60000"/>
              </a:srgbClr>
            </a:solidFill>
            <a:prstDash val="solid"/>
          </a:ln>
          <a:effectLst>
            <a:outerShdw blurRad="101600" dist="38100" dir="2700000" algn="bl" rotWithShape="0">
              <a:srgbClr val="000000">
                <a:alpha val="18000"/>
              </a:srgbClr>
            </a:outerShdw>
          </a:effectLst>
        </p:spPr>
      </p:sp>
      <p:sp>
        <p:nvSpPr>
          <p:cNvPr id="16" name="Shape 14"/>
          <p:cNvSpPr/>
          <p:nvPr/>
        </p:nvSpPr>
        <p:spPr>
          <a:xfrm>
            <a:off x="6355080" y="1216152"/>
            <a:ext cx="502920" cy="502920"/>
          </a:xfrm>
          <a:prstGeom prst="ellipse">
            <a:avLst/>
          </a:prstGeom>
          <a:solidFill>
            <a:srgbClr val="F7DF1E"/>
          </a:solidFill>
          <a:ln w="12700">
            <a:solidFill>
              <a:srgbClr val="F7DF1E"/>
            </a:solidFill>
            <a:prstDash val="solid"/>
          </a:ln>
        </p:spPr>
      </p:sp>
      <p:sp>
        <p:nvSpPr>
          <p:cNvPr id="17" name="Text 15"/>
          <p:cNvSpPr/>
          <p:nvPr/>
        </p:nvSpPr>
        <p:spPr>
          <a:xfrm>
            <a:off x="6336792" y="1188720"/>
            <a:ext cx="548640" cy="53035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8" name="Text 16"/>
          <p:cNvSpPr/>
          <p:nvPr/>
        </p:nvSpPr>
        <p:spPr>
          <a:xfrm>
            <a:off x="6949440" y="1234440"/>
            <a:ext cx="1828800" cy="4114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JavaScript</a:t>
            </a:r>
            <a:endParaRPr lang="en-US" sz="1400" dirty="0"/>
          </a:p>
        </p:txBody>
      </p:sp>
      <p:sp>
        <p:nvSpPr>
          <p:cNvPr id="19" name="Text 17"/>
          <p:cNvSpPr/>
          <p:nvPr/>
        </p:nvSpPr>
        <p:spPr>
          <a:xfrm>
            <a:off x="6355080" y="1783080"/>
            <a:ext cx="2468880" cy="82296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Filtres, dark mode, validations, scroll</a:t>
            </a:r>
            <a:endParaRPr lang="en-US" sz="1100" dirty="0"/>
          </a:p>
        </p:txBody>
      </p:sp>
      <p:sp>
        <p:nvSpPr>
          <p:cNvPr id="20" name="Shape 18"/>
          <p:cNvSpPr/>
          <p:nvPr/>
        </p:nvSpPr>
        <p:spPr>
          <a:xfrm>
            <a:off x="365760" y="3017520"/>
            <a:ext cx="2743200" cy="1737360"/>
          </a:xfrm>
          <a:prstGeom prst="roundRect">
            <a:avLst>
              <a:gd name="adj" fmla="val 7368"/>
            </a:avLst>
          </a:prstGeom>
          <a:solidFill>
            <a:srgbClr val="243447"/>
          </a:solidFill>
          <a:ln w="12700">
            <a:solidFill>
              <a:srgbClr val="7952B3">
                <a:alpha val="60000"/>
              </a:srgbClr>
            </a:solidFill>
            <a:prstDash val="solid"/>
          </a:ln>
          <a:effectLst>
            <a:outerShdw blurRad="101600" dist="38100" dir="2700000" algn="bl" rotWithShape="0">
              <a:srgbClr val="000000">
                <a:alpha val="18000"/>
              </a:srgbClr>
            </a:outerShdw>
          </a:effectLst>
        </p:spPr>
      </p:sp>
      <p:sp>
        <p:nvSpPr>
          <p:cNvPr id="21" name="Shape 19"/>
          <p:cNvSpPr/>
          <p:nvPr/>
        </p:nvSpPr>
        <p:spPr>
          <a:xfrm>
            <a:off x="502920" y="3182112"/>
            <a:ext cx="502920" cy="502920"/>
          </a:xfrm>
          <a:prstGeom prst="ellipse">
            <a:avLst/>
          </a:prstGeom>
          <a:solidFill>
            <a:srgbClr val="7952B3"/>
          </a:solidFill>
          <a:ln w="12700">
            <a:solidFill>
              <a:srgbClr val="7952B3"/>
            </a:solidFill>
            <a:prstDash val="solid"/>
          </a:ln>
        </p:spPr>
      </p:sp>
      <p:sp>
        <p:nvSpPr>
          <p:cNvPr id="22" name="Text 20"/>
          <p:cNvSpPr/>
          <p:nvPr/>
        </p:nvSpPr>
        <p:spPr>
          <a:xfrm>
            <a:off x="484632" y="3154680"/>
            <a:ext cx="548640" cy="53035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3" name="Text 21"/>
          <p:cNvSpPr/>
          <p:nvPr/>
        </p:nvSpPr>
        <p:spPr>
          <a:xfrm>
            <a:off x="1097280" y="3200400"/>
            <a:ext cx="1828800" cy="4114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Bootstrap 5</a:t>
            </a:r>
            <a:endParaRPr lang="en-US" sz="1400" dirty="0"/>
          </a:p>
        </p:txBody>
      </p:sp>
      <p:sp>
        <p:nvSpPr>
          <p:cNvPr id="24" name="Text 22"/>
          <p:cNvSpPr/>
          <p:nvPr/>
        </p:nvSpPr>
        <p:spPr>
          <a:xfrm>
            <a:off x="502920" y="3749040"/>
            <a:ext cx="2468880" cy="82296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Grid, composants, navbar, cards, accordéon</a:t>
            </a:r>
            <a:endParaRPr lang="en-US" sz="1100" dirty="0"/>
          </a:p>
        </p:txBody>
      </p:sp>
      <p:sp>
        <p:nvSpPr>
          <p:cNvPr id="25" name="Shape 23"/>
          <p:cNvSpPr/>
          <p:nvPr/>
        </p:nvSpPr>
        <p:spPr>
          <a:xfrm>
            <a:off x="3291840" y="3017520"/>
            <a:ext cx="2743200" cy="1737360"/>
          </a:xfrm>
          <a:prstGeom prst="roundRect">
            <a:avLst>
              <a:gd name="adj" fmla="val 7368"/>
            </a:avLst>
          </a:prstGeom>
          <a:solidFill>
            <a:srgbClr val="243447"/>
          </a:solidFill>
          <a:ln w="12700">
            <a:solidFill>
              <a:srgbClr val="5C6BC0">
                <a:alpha val="60000"/>
              </a:srgbClr>
            </a:solidFill>
            <a:prstDash val="solid"/>
          </a:ln>
          <a:effectLst>
            <a:outerShdw blurRad="101600" dist="38100" dir="2700000" algn="bl" rotWithShape="0">
              <a:srgbClr val="000000">
                <a:alpha val="18000"/>
              </a:srgbClr>
            </a:outerShdw>
          </a:effectLst>
        </p:spPr>
      </p:sp>
      <p:sp>
        <p:nvSpPr>
          <p:cNvPr id="26" name="Shape 24"/>
          <p:cNvSpPr/>
          <p:nvPr/>
        </p:nvSpPr>
        <p:spPr>
          <a:xfrm>
            <a:off x="3429000" y="3182112"/>
            <a:ext cx="502920" cy="502920"/>
          </a:xfrm>
          <a:prstGeom prst="ellipse">
            <a:avLst/>
          </a:prstGeom>
          <a:solidFill>
            <a:srgbClr val="5C6BC0"/>
          </a:solidFill>
          <a:ln w="12700">
            <a:solidFill>
              <a:srgbClr val="5C6BC0"/>
            </a:solidFill>
            <a:prstDash val="solid"/>
          </a:ln>
        </p:spPr>
      </p:sp>
      <p:sp>
        <p:nvSpPr>
          <p:cNvPr id="27" name="Text 25"/>
          <p:cNvSpPr/>
          <p:nvPr/>
        </p:nvSpPr>
        <p:spPr>
          <a:xfrm>
            <a:off x="3410712" y="3154680"/>
            <a:ext cx="548640" cy="53035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8" name="Text 26"/>
          <p:cNvSpPr/>
          <p:nvPr/>
        </p:nvSpPr>
        <p:spPr>
          <a:xfrm>
            <a:off x="4023360" y="3200400"/>
            <a:ext cx="1828800" cy="4114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Bootstrap Icons</a:t>
            </a:r>
            <a:endParaRPr lang="en-US" sz="1400" dirty="0"/>
          </a:p>
        </p:txBody>
      </p:sp>
      <p:sp>
        <p:nvSpPr>
          <p:cNvPr id="29" name="Text 27"/>
          <p:cNvSpPr/>
          <p:nvPr/>
        </p:nvSpPr>
        <p:spPr>
          <a:xfrm>
            <a:off x="3429000" y="3749040"/>
            <a:ext cx="2468880" cy="82296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Icônes vectorielles pour l'interface</a:t>
            </a:r>
            <a:endParaRPr lang="en-US" sz="1100" dirty="0"/>
          </a:p>
        </p:txBody>
      </p:sp>
      <p:sp>
        <p:nvSpPr>
          <p:cNvPr id="30" name="Shape 28"/>
          <p:cNvSpPr/>
          <p:nvPr/>
        </p:nvSpPr>
        <p:spPr>
          <a:xfrm>
            <a:off x="6217920" y="3017520"/>
            <a:ext cx="2743200" cy="1737360"/>
          </a:xfrm>
          <a:prstGeom prst="roundRect">
            <a:avLst>
              <a:gd name="adj" fmla="val 7368"/>
            </a:avLst>
          </a:prstGeom>
          <a:solidFill>
            <a:srgbClr val="243447"/>
          </a:solidFill>
          <a:ln w="12700">
            <a:solidFill>
              <a:srgbClr val="4285F4">
                <a:alpha val="60000"/>
              </a:srgbClr>
            </a:solidFill>
            <a:prstDash val="solid"/>
          </a:ln>
          <a:effectLst>
            <a:outerShdw blurRad="101600" dist="38100" dir="2700000" algn="bl" rotWithShape="0">
              <a:srgbClr val="000000">
                <a:alpha val="18000"/>
              </a:srgbClr>
            </a:outerShdw>
          </a:effectLst>
        </p:spPr>
      </p:sp>
      <p:sp>
        <p:nvSpPr>
          <p:cNvPr id="31" name="Shape 29"/>
          <p:cNvSpPr/>
          <p:nvPr/>
        </p:nvSpPr>
        <p:spPr>
          <a:xfrm>
            <a:off x="6355080" y="3182112"/>
            <a:ext cx="502920" cy="502920"/>
          </a:xfrm>
          <a:prstGeom prst="ellipse">
            <a:avLst/>
          </a:prstGeom>
          <a:solidFill>
            <a:srgbClr val="4285F4"/>
          </a:solidFill>
          <a:ln w="12700">
            <a:solidFill>
              <a:srgbClr val="4285F4"/>
            </a:solidFill>
            <a:prstDash val="solid"/>
          </a:ln>
        </p:spPr>
      </p:sp>
      <p:sp>
        <p:nvSpPr>
          <p:cNvPr id="32" name="Text 30"/>
          <p:cNvSpPr/>
          <p:nvPr/>
        </p:nvSpPr>
        <p:spPr>
          <a:xfrm>
            <a:off x="6336792" y="3154680"/>
            <a:ext cx="548640" cy="53035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33" name="Text 31"/>
          <p:cNvSpPr/>
          <p:nvPr/>
        </p:nvSpPr>
        <p:spPr>
          <a:xfrm>
            <a:off x="6949440" y="3200400"/>
            <a:ext cx="1828800" cy="41148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Google Fonts</a:t>
            </a:r>
            <a:endParaRPr lang="en-US" sz="1400" dirty="0"/>
          </a:p>
        </p:txBody>
      </p:sp>
      <p:sp>
        <p:nvSpPr>
          <p:cNvPr id="34" name="Text 32"/>
          <p:cNvSpPr/>
          <p:nvPr/>
        </p:nvSpPr>
        <p:spPr>
          <a:xfrm>
            <a:off x="6355080" y="3749040"/>
            <a:ext cx="2468880" cy="82296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Poppins &amp; Roboto pour la typographie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7ED"/>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97316"/>
          </a:solidFill>
          <a:ln w="12700">
            <a:solidFill>
              <a:srgbClr val="F97316"/>
            </a:solidFill>
            <a:prstDash val="solid"/>
          </a:ln>
        </p:spPr>
      </p:sp>
      <p:sp>
        <p:nvSpPr>
          <p:cNvPr id="3" name="Text 1"/>
          <p:cNvSpPr/>
          <p:nvPr/>
        </p:nvSpPr>
        <p:spPr>
          <a:xfrm>
            <a:off x="274320" y="0"/>
            <a:ext cx="8229600" cy="10058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Pages Développées</a:t>
            </a:r>
            <a:endParaRPr lang="en-US" sz="2800" dirty="0"/>
          </a:p>
        </p:txBody>
      </p:sp>
      <p:sp>
        <p:nvSpPr>
          <p:cNvPr id="4" name="Shape 2"/>
          <p:cNvSpPr/>
          <p:nvPr/>
        </p:nvSpPr>
        <p:spPr>
          <a:xfrm>
            <a:off x="274320" y="1143000"/>
            <a:ext cx="1600200" cy="502920"/>
          </a:xfrm>
          <a:prstGeom prst="roundRect">
            <a:avLst>
              <a:gd name="adj" fmla="val 18182"/>
            </a:avLst>
          </a:prstGeom>
          <a:solidFill>
            <a:srgbClr val="F97316"/>
          </a:solidFill>
          <a:ln w="12700">
            <a:solidFill>
              <a:srgbClr val="F97316"/>
            </a:solidFill>
            <a:prstDash val="solid"/>
          </a:ln>
        </p:spPr>
      </p:sp>
      <p:sp>
        <p:nvSpPr>
          <p:cNvPr id="5" name="Text 3"/>
          <p:cNvSpPr/>
          <p:nvPr/>
        </p:nvSpPr>
        <p:spPr>
          <a:xfrm>
            <a:off x="274320" y="1143000"/>
            <a:ext cx="160020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Accueil</a:t>
            </a:r>
            <a:endParaRPr lang="en-US" sz="1100" dirty="0"/>
          </a:p>
        </p:txBody>
      </p:sp>
      <p:sp>
        <p:nvSpPr>
          <p:cNvPr id="6" name="Shape 4"/>
          <p:cNvSpPr/>
          <p:nvPr/>
        </p:nvSpPr>
        <p:spPr>
          <a:xfrm>
            <a:off x="365760" y="1920240"/>
            <a:ext cx="164592" cy="164592"/>
          </a:xfrm>
          <a:prstGeom prst="ellipse">
            <a:avLst/>
          </a:prstGeom>
          <a:solidFill>
            <a:srgbClr val="F97316"/>
          </a:solidFill>
          <a:ln w="12700">
            <a:solidFill>
              <a:srgbClr val="F97316"/>
            </a:solidFill>
            <a:prstDash val="solid"/>
          </a:ln>
        </p:spPr>
      </p:sp>
      <p:sp>
        <p:nvSpPr>
          <p:cNvPr id="7" name="Text 5"/>
          <p:cNvSpPr/>
          <p:nvPr/>
        </p:nvSpPr>
        <p:spPr>
          <a:xfrm>
            <a:off x="594360" y="182880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Hero section</a:t>
            </a:r>
            <a:endParaRPr lang="en-US" sz="1000" dirty="0"/>
          </a:p>
        </p:txBody>
      </p:sp>
      <p:sp>
        <p:nvSpPr>
          <p:cNvPr id="8" name="Shape 6"/>
          <p:cNvSpPr/>
          <p:nvPr/>
        </p:nvSpPr>
        <p:spPr>
          <a:xfrm>
            <a:off x="365760" y="2560320"/>
            <a:ext cx="164592" cy="164592"/>
          </a:xfrm>
          <a:prstGeom prst="ellipse">
            <a:avLst/>
          </a:prstGeom>
          <a:solidFill>
            <a:srgbClr val="F97316"/>
          </a:solidFill>
          <a:ln w="12700">
            <a:solidFill>
              <a:srgbClr val="F97316"/>
            </a:solidFill>
            <a:prstDash val="solid"/>
          </a:ln>
        </p:spPr>
      </p:sp>
      <p:sp>
        <p:nvSpPr>
          <p:cNvPr id="9" name="Text 7"/>
          <p:cNvSpPr/>
          <p:nvPr/>
        </p:nvSpPr>
        <p:spPr>
          <a:xfrm>
            <a:off x="594360" y="246888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Bento Grid services</a:t>
            </a:r>
            <a:endParaRPr lang="en-US" sz="1000" dirty="0"/>
          </a:p>
        </p:txBody>
      </p:sp>
      <p:sp>
        <p:nvSpPr>
          <p:cNvPr id="10" name="Shape 8"/>
          <p:cNvSpPr/>
          <p:nvPr/>
        </p:nvSpPr>
        <p:spPr>
          <a:xfrm>
            <a:off x="365760" y="3200400"/>
            <a:ext cx="164592" cy="164592"/>
          </a:xfrm>
          <a:prstGeom prst="ellipse">
            <a:avLst/>
          </a:prstGeom>
          <a:solidFill>
            <a:srgbClr val="F97316"/>
          </a:solidFill>
          <a:ln w="12700">
            <a:solidFill>
              <a:srgbClr val="F97316"/>
            </a:solidFill>
            <a:prstDash val="solid"/>
          </a:ln>
        </p:spPr>
      </p:sp>
      <p:sp>
        <p:nvSpPr>
          <p:cNvPr id="11" name="Text 9"/>
          <p:cNvSpPr/>
          <p:nvPr/>
        </p:nvSpPr>
        <p:spPr>
          <a:xfrm>
            <a:off x="594360" y="310896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Statistiques clés</a:t>
            </a:r>
            <a:endParaRPr lang="en-US" sz="1000" dirty="0"/>
          </a:p>
        </p:txBody>
      </p:sp>
      <p:sp>
        <p:nvSpPr>
          <p:cNvPr id="12" name="Shape 10"/>
          <p:cNvSpPr/>
          <p:nvPr/>
        </p:nvSpPr>
        <p:spPr>
          <a:xfrm>
            <a:off x="365760" y="3840480"/>
            <a:ext cx="164592" cy="164592"/>
          </a:xfrm>
          <a:prstGeom prst="ellipse">
            <a:avLst/>
          </a:prstGeom>
          <a:solidFill>
            <a:srgbClr val="F97316"/>
          </a:solidFill>
          <a:ln w="12700">
            <a:solidFill>
              <a:srgbClr val="F97316"/>
            </a:solidFill>
            <a:prstDash val="solid"/>
          </a:ln>
        </p:spPr>
      </p:sp>
      <p:sp>
        <p:nvSpPr>
          <p:cNvPr id="13" name="Text 11"/>
          <p:cNvSpPr/>
          <p:nvPr/>
        </p:nvSpPr>
        <p:spPr>
          <a:xfrm>
            <a:off x="594360" y="374904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Carousel témoignages</a:t>
            </a:r>
            <a:endParaRPr lang="en-US" sz="1000" dirty="0"/>
          </a:p>
        </p:txBody>
      </p:sp>
      <p:sp>
        <p:nvSpPr>
          <p:cNvPr id="14" name="Shape 12"/>
          <p:cNvSpPr/>
          <p:nvPr/>
        </p:nvSpPr>
        <p:spPr>
          <a:xfrm>
            <a:off x="365760" y="4480560"/>
            <a:ext cx="164592" cy="164592"/>
          </a:xfrm>
          <a:prstGeom prst="ellipse">
            <a:avLst/>
          </a:prstGeom>
          <a:solidFill>
            <a:srgbClr val="F97316"/>
          </a:solidFill>
          <a:ln w="12700">
            <a:solidFill>
              <a:srgbClr val="F97316"/>
            </a:solidFill>
            <a:prstDash val="solid"/>
          </a:ln>
        </p:spPr>
      </p:sp>
      <p:sp>
        <p:nvSpPr>
          <p:cNvPr id="15" name="Text 13"/>
          <p:cNvSpPr/>
          <p:nvPr/>
        </p:nvSpPr>
        <p:spPr>
          <a:xfrm>
            <a:off x="594360" y="438912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Appels à l'action</a:t>
            </a:r>
            <a:endParaRPr lang="en-US" sz="1000" dirty="0"/>
          </a:p>
        </p:txBody>
      </p:sp>
      <p:sp>
        <p:nvSpPr>
          <p:cNvPr id="16" name="Shape 14"/>
          <p:cNvSpPr/>
          <p:nvPr/>
        </p:nvSpPr>
        <p:spPr>
          <a:xfrm>
            <a:off x="1993392" y="1143000"/>
            <a:ext cx="1600200" cy="502920"/>
          </a:xfrm>
          <a:prstGeom prst="roundRect">
            <a:avLst>
              <a:gd name="adj" fmla="val 18182"/>
            </a:avLst>
          </a:prstGeom>
          <a:solidFill>
            <a:srgbClr val="7C3AED"/>
          </a:solidFill>
          <a:ln w="12700">
            <a:solidFill>
              <a:srgbClr val="7C3AED"/>
            </a:solidFill>
            <a:prstDash val="solid"/>
          </a:ln>
        </p:spPr>
      </p:sp>
      <p:sp>
        <p:nvSpPr>
          <p:cNvPr id="17" name="Text 15"/>
          <p:cNvSpPr/>
          <p:nvPr/>
        </p:nvSpPr>
        <p:spPr>
          <a:xfrm>
            <a:off x="1993392" y="1143000"/>
            <a:ext cx="160020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Freelances</a:t>
            </a:r>
            <a:endParaRPr lang="en-US" sz="1100" dirty="0"/>
          </a:p>
        </p:txBody>
      </p:sp>
      <p:sp>
        <p:nvSpPr>
          <p:cNvPr id="18" name="Shape 16"/>
          <p:cNvSpPr/>
          <p:nvPr/>
        </p:nvSpPr>
        <p:spPr>
          <a:xfrm>
            <a:off x="2084832" y="1920240"/>
            <a:ext cx="164592" cy="164592"/>
          </a:xfrm>
          <a:prstGeom prst="ellipse">
            <a:avLst/>
          </a:prstGeom>
          <a:solidFill>
            <a:srgbClr val="7C3AED"/>
          </a:solidFill>
          <a:ln w="12700">
            <a:solidFill>
              <a:srgbClr val="7C3AED"/>
            </a:solidFill>
            <a:prstDash val="solid"/>
          </a:ln>
        </p:spPr>
      </p:sp>
      <p:sp>
        <p:nvSpPr>
          <p:cNvPr id="19" name="Text 17"/>
          <p:cNvSpPr/>
          <p:nvPr/>
        </p:nvSpPr>
        <p:spPr>
          <a:xfrm>
            <a:off x="2313432" y="182880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Cartes profil Bootstrap</a:t>
            </a:r>
            <a:endParaRPr lang="en-US" sz="1000" dirty="0"/>
          </a:p>
        </p:txBody>
      </p:sp>
      <p:sp>
        <p:nvSpPr>
          <p:cNvPr id="20" name="Shape 18"/>
          <p:cNvSpPr/>
          <p:nvPr/>
        </p:nvSpPr>
        <p:spPr>
          <a:xfrm>
            <a:off x="2084832" y="2560320"/>
            <a:ext cx="164592" cy="164592"/>
          </a:xfrm>
          <a:prstGeom prst="ellipse">
            <a:avLst/>
          </a:prstGeom>
          <a:solidFill>
            <a:srgbClr val="7C3AED"/>
          </a:solidFill>
          <a:ln w="12700">
            <a:solidFill>
              <a:srgbClr val="7C3AED"/>
            </a:solidFill>
            <a:prstDash val="solid"/>
          </a:ln>
        </p:spPr>
      </p:sp>
      <p:sp>
        <p:nvSpPr>
          <p:cNvPr id="21" name="Text 19"/>
          <p:cNvSpPr/>
          <p:nvPr/>
        </p:nvSpPr>
        <p:spPr>
          <a:xfrm>
            <a:off x="2313432" y="246888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Filtrage par catégorie JS</a:t>
            </a:r>
            <a:endParaRPr lang="en-US" sz="1000" dirty="0"/>
          </a:p>
        </p:txBody>
      </p:sp>
      <p:sp>
        <p:nvSpPr>
          <p:cNvPr id="22" name="Shape 20"/>
          <p:cNvSpPr/>
          <p:nvPr/>
        </p:nvSpPr>
        <p:spPr>
          <a:xfrm>
            <a:off x="2084832" y="3200400"/>
            <a:ext cx="164592" cy="164592"/>
          </a:xfrm>
          <a:prstGeom prst="ellipse">
            <a:avLst/>
          </a:prstGeom>
          <a:solidFill>
            <a:srgbClr val="7C3AED"/>
          </a:solidFill>
          <a:ln w="12700">
            <a:solidFill>
              <a:srgbClr val="7C3AED"/>
            </a:solidFill>
            <a:prstDash val="solid"/>
          </a:ln>
        </p:spPr>
      </p:sp>
      <p:sp>
        <p:nvSpPr>
          <p:cNvPr id="23" name="Text 21"/>
          <p:cNvSpPr/>
          <p:nvPr/>
        </p:nvSpPr>
        <p:spPr>
          <a:xfrm>
            <a:off x="2313432" y="310896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Badges de compétences</a:t>
            </a:r>
            <a:endParaRPr lang="en-US" sz="1000" dirty="0"/>
          </a:p>
        </p:txBody>
      </p:sp>
      <p:sp>
        <p:nvSpPr>
          <p:cNvPr id="24" name="Shape 22"/>
          <p:cNvSpPr/>
          <p:nvPr/>
        </p:nvSpPr>
        <p:spPr>
          <a:xfrm>
            <a:off x="2084832" y="3840480"/>
            <a:ext cx="164592" cy="164592"/>
          </a:xfrm>
          <a:prstGeom prst="ellipse">
            <a:avLst/>
          </a:prstGeom>
          <a:solidFill>
            <a:srgbClr val="7C3AED"/>
          </a:solidFill>
          <a:ln w="12700">
            <a:solidFill>
              <a:srgbClr val="7C3AED"/>
            </a:solidFill>
            <a:prstDash val="solid"/>
          </a:ln>
        </p:spPr>
      </p:sp>
      <p:sp>
        <p:nvSpPr>
          <p:cNvPr id="25" name="Text 23"/>
          <p:cNvSpPr/>
          <p:nvPr/>
        </p:nvSpPr>
        <p:spPr>
          <a:xfrm>
            <a:off x="2313432" y="374904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Bouton contact</a:t>
            </a:r>
            <a:endParaRPr lang="en-US" sz="1000" dirty="0"/>
          </a:p>
        </p:txBody>
      </p:sp>
      <p:sp>
        <p:nvSpPr>
          <p:cNvPr id="26" name="Shape 24"/>
          <p:cNvSpPr/>
          <p:nvPr/>
        </p:nvSpPr>
        <p:spPr>
          <a:xfrm>
            <a:off x="2084832" y="4480560"/>
            <a:ext cx="164592" cy="164592"/>
          </a:xfrm>
          <a:prstGeom prst="ellipse">
            <a:avLst/>
          </a:prstGeom>
          <a:solidFill>
            <a:srgbClr val="7C3AED"/>
          </a:solidFill>
          <a:ln w="12700">
            <a:solidFill>
              <a:srgbClr val="7C3AED"/>
            </a:solidFill>
            <a:prstDash val="solid"/>
          </a:ln>
        </p:spPr>
      </p:sp>
      <p:sp>
        <p:nvSpPr>
          <p:cNvPr id="27" name="Text 25"/>
          <p:cNvSpPr/>
          <p:nvPr/>
        </p:nvSpPr>
        <p:spPr>
          <a:xfrm>
            <a:off x="2313432" y="438912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Design responsive</a:t>
            </a:r>
            <a:endParaRPr lang="en-US" sz="1000" dirty="0"/>
          </a:p>
        </p:txBody>
      </p:sp>
      <p:sp>
        <p:nvSpPr>
          <p:cNvPr id="28" name="Shape 26"/>
          <p:cNvSpPr/>
          <p:nvPr/>
        </p:nvSpPr>
        <p:spPr>
          <a:xfrm>
            <a:off x="3712464" y="1143000"/>
            <a:ext cx="1600200" cy="502920"/>
          </a:xfrm>
          <a:prstGeom prst="roundRect">
            <a:avLst>
              <a:gd name="adj" fmla="val 18182"/>
            </a:avLst>
          </a:prstGeom>
          <a:solidFill>
            <a:srgbClr val="0D9488"/>
          </a:solidFill>
          <a:ln w="12700">
            <a:solidFill>
              <a:srgbClr val="0D9488"/>
            </a:solidFill>
            <a:prstDash val="solid"/>
          </a:ln>
        </p:spPr>
      </p:sp>
      <p:sp>
        <p:nvSpPr>
          <p:cNvPr id="29" name="Text 27"/>
          <p:cNvSpPr/>
          <p:nvPr/>
        </p:nvSpPr>
        <p:spPr>
          <a:xfrm>
            <a:off x="3712464" y="1143000"/>
            <a:ext cx="160020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Tarifs</a:t>
            </a:r>
            <a:endParaRPr lang="en-US" sz="1100" dirty="0"/>
          </a:p>
        </p:txBody>
      </p:sp>
      <p:sp>
        <p:nvSpPr>
          <p:cNvPr id="30" name="Shape 28"/>
          <p:cNvSpPr/>
          <p:nvPr/>
        </p:nvSpPr>
        <p:spPr>
          <a:xfrm>
            <a:off x="3803904" y="1920240"/>
            <a:ext cx="164592" cy="164592"/>
          </a:xfrm>
          <a:prstGeom prst="ellipse">
            <a:avLst/>
          </a:prstGeom>
          <a:solidFill>
            <a:srgbClr val="0D9488"/>
          </a:solidFill>
          <a:ln w="12700">
            <a:solidFill>
              <a:srgbClr val="0D9488"/>
            </a:solidFill>
            <a:prstDash val="solid"/>
          </a:ln>
        </p:spPr>
      </p:sp>
      <p:sp>
        <p:nvSpPr>
          <p:cNvPr id="31" name="Text 29"/>
          <p:cNvSpPr/>
          <p:nvPr/>
        </p:nvSpPr>
        <p:spPr>
          <a:xfrm>
            <a:off x="4032504" y="182880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3 offres tarifaires</a:t>
            </a:r>
            <a:endParaRPr lang="en-US" sz="1000" dirty="0"/>
          </a:p>
        </p:txBody>
      </p:sp>
      <p:sp>
        <p:nvSpPr>
          <p:cNvPr id="32" name="Shape 30"/>
          <p:cNvSpPr/>
          <p:nvPr/>
        </p:nvSpPr>
        <p:spPr>
          <a:xfrm>
            <a:off x="3803904" y="2560320"/>
            <a:ext cx="164592" cy="164592"/>
          </a:xfrm>
          <a:prstGeom prst="ellipse">
            <a:avLst/>
          </a:prstGeom>
          <a:solidFill>
            <a:srgbClr val="0D9488"/>
          </a:solidFill>
          <a:ln w="12700">
            <a:solidFill>
              <a:srgbClr val="0D9488"/>
            </a:solidFill>
            <a:prstDash val="solid"/>
          </a:ln>
        </p:spPr>
      </p:sp>
      <p:sp>
        <p:nvSpPr>
          <p:cNvPr id="33" name="Text 31"/>
          <p:cNvSpPr/>
          <p:nvPr/>
        </p:nvSpPr>
        <p:spPr>
          <a:xfrm>
            <a:off x="4032504" y="246888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Tableau comparatif</a:t>
            </a:r>
            <a:endParaRPr lang="en-US" sz="1000" dirty="0"/>
          </a:p>
        </p:txBody>
      </p:sp>
      <p:sp>
        <p:nvSpPr>
          <p:cNvPr id="34" name="Shape 32"/>
          <p:cNvSpPr/>
          <p:nvPr/>
        </p:nvSpPr>
        <p:spPr>
          <a:xfrm>
            <a:off x="3803904" y="3200400"/>
            <a:ext cx="164592" cy="164592"/>
          </a:xfrm>
          <a:prstGeom prst="ellipse">
            <a:avLst/>
          </a:prstGeom>
          <a:solidFill>
            <a:srgbClr val="0D9488"/>
          </a:solidFill>
          <a:ln w="12700">
            <a:solidFill>
              <a:srgbClr val="0D9488"/>
            </a:solidFill>
            <a:prstDash val="solid"/>
          </a:ln>
        </p:spPr>
      </p:sp>
      <p:sp>
        <p:nvSpPr>
          <p:cNvPr id="35" name="Text 33"/>
          <p:cNvSpPr/>
          <p:nvPr/>
        </p:nvSpPr>
        <p:spPr>
          <a:xfrm>
            <a:off x="4032504" y="310896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FAQ accordéon</a:t>
            </a:r>
            <a:endParaRPr lang="en-US" sz="1000" dirty="0"/>
          </a:p>
        </p:txBody>
      </p:sp>
      <p:sp>
        <p:nvSpPr>
          <p:cNvPr id="36" name="Shape 34"/>
          <p:cNvSpPr/>
          <p:nvPr/>
        </p:nvSpPr>
        <p:spPr>
          <a:xfrm>
            <a:off x="3803904" y="3840480"/>
            <a:ext cx="164592" cy="164592"/>
          </a:xfrm>
          <a:prstGeom prst="ellipse">
            <a:avLst/>
          </a:prstGeom>
          <a:solidFill>
            <a:srgbClr val="0D9488"/>
          </a:solidFill>
          <a:ln w="12700">
            <a:solidFill>
              <a:srgbClr val="0D9488"/>
            </a:solidFill>
            <a:prstDash val="solid"/>
          </a:ln>
        </p:spPr>
      </p:sp>
      <p:sp>
        <p:nvSpPr>
          <p:cNvPr id="37" name="Text 35"/>
          <p:cNvSpPr/>
          <p:nvPr/>
        </p:nvSpPr>
        <p:spPr>
          <a:xfrm>
            <a:off x="4032504" y="374904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Avantages plateforme</a:t>
            </a:r>
            <a:endParaRPr lang="en-US" sz="1000" dirty="0"/>
          </a:p>
        </p:txBody>
      </p:sp>
      <p:sp>
        <p:nvSpPr>
          <p:cNvPr id="38" name="Shape 36"/>
          <p:cNvSpPr/>
          <p:nvPr/>
        </p:nvSpPr>
        <p:spPr>
          <a:xfrm>
            <a:off x="3803904" y="4480560"/>
            <a:ext cx="164592" cy="164592"/>
          </a:xfrm>
          <a:prstGeom prst="ellipse">
            <a:avLst/>
          </a:prstGeom>
          <a:solidFill>
            <a:srgbClr val="0D9488"/>
          </a:solidFill>
          <a:ln w="12700">
            <a:solidFill>
              <a:srgbClr val="0D9488"/>
            </a:solidFill>
            <a:prstDash val="solid"/>
          </a:ln>
        </p:spPr>
      </p:sp>
      <p:sp>
        <p:nvSpPr>
          <p:cNvPr id="39" name="Text 37"/>
          <p:cNvSpPr/>
          <p:nvPr/>
        </p:nvSpPr>
        <p:spPr>
          <a:xfrm>
            <a:off x="4032504" y="438912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Call-to-action</a:t>
            </a:r>
            <a:endParaRPr lang="en-US" sz="1000" dirty="0"/>
          </a:p>
        </p:txBody>
      </p:sp>
      <p:sp>
        <p:nvSpPr>
          <p:cNvPr id="40" name="Shape 38"/>
          <p:cNvSpPr/>
          <p:nvPr/>
        </p:nvSpPr>
        <p:spPr>
          <a:xfrm>
            <a:off x="5431536" y="1143000"/>
            <a:ext cx="1600200" cy="502920"/>
          </a:xfrm>
          <a:prstGeom prst="roundRect">
            <a:avLst>
              <a:gd name="adj" fmla="val 18182"/>
            </a:avLst>
          </a:prstGeom>
          <a:solidFill>
            <a:srgbClr val="4338CA"/>
          </a:solidFill>
          <a:ln w="12700">
            <a:solidFill>
              <a:srgbClr val="4338CA"/>
            </a:solidFill>
            <a:prstDash val="solid"/>
          </a:ln>
        </p:spPr>
      </p:sp>
      <p:sp>
        <p:nvSpPr>
          <p:cNvPr id="41" name="Text 39"/>
          <p:cNvSpPr/>
          <p:nvPr/>
        </p:nvSpPr>
        <p:spPr>
          <a:xfrm>
            <a:off x="5431536" y="1143000"/>
            <a:ext cx="160020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ℹ️ À propos</a:t>
            </a:r>
            <a:endParaRPr lang="en-US" sz="1100" dirty="0"/>
          </a:p>
        </p:txBody>
      </p:sp>
      <p:sp>
        <p:nvSpPr>
          <p:cNvPr id="42" name="Shape 40"/>
          <p:cNvSpPr/>
          <p:nvPr/>
        </p:nvSpPr>
        <p:spPr>
          <a:xfrm>
            <a:off x="5522976" y="1920240"/>
            <a:ext cx="164592" cy="164592"/>
          </a:xfrm>
          <a:prstGeom prst="ellipse">
            <a:avLst/>
          </a:prstGeom>
          <a:solidFill>
            <a:srgbClr val="4338CA"/>
          </a:solidFill>
          <a:ln w="12700">
            <a:solidFill>
              <a:srgbClr val="4338CA"/>
            </a:solidFill>
            <a:prstDash val="solid"/>
          </a:ln>
        </p:spPr>
      </p:sp>
      <p:sp>
        <p:nvSpPr>
          <p:cNvPr id="43" name="Text 41"/>
          <p:cNvSpPr/>
          <p:nvPr/>
        </p:nvSpPr>
        <p:spPr>
          <a:xfrm>
            <a:off x="5751576" y="182880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Histoire AfriTalent</a:t>
            </a:r>
            <a:endParaRPr lang="en-US" sz="1000" dirty="0"/>
          </a:p>
        </p:txBody>
      </p:sp>
      <p:sp>
        <p:nvSpPr>
          <p:cNvPr id="44" name="Shape 42"/>
          <p:cNvSpPr/>
          <p:nvPr/>
        </p:nvSpPr>
        <p:spPr>
          <a:xfrm>
            <a:off x="5522976" y="2560320"/>
            <a:ext cx="164592" cy="164592"/>
          </a:xfrm>
          <a:prstGeom prst="ellipse">
            <a:avLst/>
          </a:prstGeom>
          <a:solidFill>
            <a:srgbClr val="4338CA"/>
          </a:solidFill>
          <a:ln w="12700">
            <a:solidFill>
              <a:srgbClr val="4338CA"/>
            </a:solidFill>
            <a:prstDash val="solid"/>
          </a:ln>
        </p:spPr>
      </p:sp>
      <p:sp>
        <p:nvSpPr>
          <p:cNvPr id="45" name="Text 43"/>
          <p:cNvSpPr/>
          <p:nvPr/>
        </p:nvSpPr>
        <p:spPr>
          <a:xfrm>
            <a:off x="5751576" y="246888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Équipe présentée</a:t>
            </a:r>
            <a:endParaRPr lang="en-US" sz="1000" dirty="0"/>
          </a:p>
        </p:txBody>
      </p:sp>
      <p:sp>
        <p:nvSpPr>
          <p:cNvPr id="46" name="Shape 44"/>
          <p:cNvSpPr/>
          <p:nvPr/>
        </p:nvSpPr>
        <p:spPr>
          <a:xfrm>
            <a:off x="5522976" y="3200400"/>
            <a:ext cx="164592" cy="164592"/>
          </a:xfrm>
          <a:prstGeom prst="ellipse">
            <a:avLst/>
          </a:prstGeom>
          <a:solidFill>
            <a:srgbClr val="4338CA"/>
          </a:solidFill>
          <a:ln w="12700">
            <a:solidFill>
              <a:srgbClr val="4338CA"/>
            </a:solidFill>
            <a:prstDash val="solid"/>
          </a:ln>
        </p:spPr>
      </p:sp>
      <p:sp>
        <p:nvSpPr>
          <p:cNvPr id="47" name="Text 45"/>
          <p:cNvSpPr/>
          <p:nvPr/>
        </p:nvSpPr>
        <p:spPr>
          <a:xfrm>
            <a:off x="5751576" y="310896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Valeurs entreprise</a:t>
            </a:r>
            <a:endParaRPr lang="en-US" sz="1000" dirty="0"/>
          </a:p>
        </p:txBody>
      </p:sp>
      <p:sp>
        <p:nvSpPr>
          <p:cNvPr id="48" name="Shape 46"/>
          <p:cNvSpPr/>
          <p:nvPr/>
        </p:nvSpPr>
        <p:spPr>
          <a:xfrm>
            <a:off x="5522976" y="3840480"/>
            <a:ext cx="164592" cy="164592"/>
          </a:xfrm>
          <a:prstGeom prst="ellipse">
            <a:avLst/>
          </a:prstGeom>
          <a:solidFill>
            <a:srgbClr val="4338CA"/>
          </a:solidFill>
          <a:ln w="12700">
            <a:solidFill>
              <a:srgbClr val="4338CA"/>
            </a:solidFill>
            <a:prstDash val="solid"/>
          </a:ln>
        </p:spPr>
      </p:sp>
      <p:sp>
        <p:nvSpPr>
          <p:cNvPr id="49" name="Text 47"/>
          <p:cNvSpPr/>
          <p:nvPr/>
        </p:nvSpPr>
        <p:spPr>
          <a:xfrm>
            <a:off x="5751576" y="374904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Compteurs animés</a:t>
            </a:r>
            <a:endParaRPr lang="en-US" sz="1000" dirty="0"/>
          </a:p>
        </p:txBody>
      </p:sp>
      <p:sp>
        <p:nvSpPr>
          <p:cNvPr id="50" name="Shape 48"/>
          <p:cNvSpPr/>
          <p:nvPr/>
        </p:nvSpPr>
        <p:spPr>
          <a:xfrm>
            <a:off x="5522976" y="4480560"/>
            <a:ext cx="164592" cy="164592"/>
          </a:xfrm>
          <a:prstGeom prst="ellipse">
            <a:avLst/>
          </a:prstGeom>
          <a:solidFill>
            <a:srgbClr val="4338CA"/>
          </a:solidFill>
          <a:ln w="12700">
            <a:solidFill>
              <a:srgbClr val="4338CA"/>
            </a:solidFill>
            <a:prstDash val="solid"/>
          </a:ln>
        </p:spPr>
      </p:sp>
      <p:sp>
        <p:nvSpPr>
          <p:cNvPr id="51" name="Text 49"/>
          <p:cNvSpPr/>
          <p:nvPr/>
        </p:nvSpPr>
        <p:spPr>
          <a:xfrm>
            <a:off x="5751576" y="438912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Timeline</a:t>
            </a:r>
            <a:endParaRPr lang="en-US" sz="1000" dirty="0"/>
          </a:p>
        </p:txBody>
      </p:sp>
      <p:sp>
        <p:nvSpPr>
          <p:cNvPr id="52" name="Shape 50"/>
          <p:cNvSpPr/>
          <p:nvPr/>
        </p:nvSpPr>
        <p:spPr>
          <a:xfrm>
            <a:off x="7150608" y="1143000"/>
            <a:ext cx="1600200" cy="502920"/>
          </a:xfrm>
          <a:prstGeom prst="roundRect">
            <a:avLst>
              <a:gd name="adj" fmla="val 18182"/>
            </a:avLst>
          </a:prstGeom>
          <a:solidFill>
            <a:srgbClr val="059669"/>
          </a:solidFill>
          <a:ln w="12700">
            <a:solidFill>
              <a:srgbClr val="059669"/>
            </a:solidFill>
            <a:prstDash val="solid"/>
          </a:ln>
        </p:spPr>
      </p:sp>
      <p:sp>
        <p:nvSpPr>
          <p:cNvPr id="53" name="Text 51"/>
          <p:cNvSpPr/>
          <p:nvPr/>
        </p:nvSpPr>
        <p:spPr>
          <a:xfrm>
            <a:off x="7150608" y="1143000"/>
            <a:ext cx="160020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Contact</a:t>
            </a:r>
            <a:endParaRPr lang="en-US" sz="1100" dirty="0"/>
          </a:p>
        </p:txBody>
      </p:sp>
      <p:sp>
        <p:nvSpPr>
          <p:cNvPr id="54" name="Shape 52"/>
          <p:cNvSpPr/>
          <p:nvPr/>
        </p:nvSpPr>
        <p:spPr>
          <a:xfrm>
            <a:off x="7242048" y="1920240"/>
            <a:ext cx="164592" cy="164592"/>
          </a:xfrm>
          <a:prstGeom prst="ellipse">
            <a:avLst/>
          </a:prstGeom>
          <a:solidFill>
            <a:srgbClr val="059669"/>
          </a:solidFill>
          <a:ln w="12700">
            <a:solidFill>
              <a:srgbClr val="059669"/>
            </a:solidFill>
            <a:prstDash val="solid"/>
          </a:ln>
        </p:spPr>
      </p:sp>
      <p:sp>
        <p:nvSpPr>
          <p:cNvPr id="55" name="Text 53"/>
          <p:cNvSpPr/>
          <p:nvPr/>
        </p:nvSpPr>
        <p:spPr>
          <a:xfrm>
            <a:off x="7470648" y="182880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Formulaire Bootstrap</a:t>
            </a:r>
            <a:endParaRPr lang="en-US" sz="1000" dirty="0"/>
          </a:p>
        </p:txBody>
      </p:sp>
      <p:sp>
        <p:nvSpPr>
          <p:cNvPr id="56" name="Shape 54"/>
          <p:cNvSpPr/>
          <p:nvPr/>
        </p:nvSpPr>
        <p:spPr>
          <a:xfrm>
            <a:off x="7242048" y="2560320"/>
            <a:ext cx="164592" cy="164592"/>
          </a:xfrm>
          <a:prstGeom prst="ellipse">
            <a:avLst/>
          </a:prstGeom>
          <a:solidFill>
            <a:srgbClr val="059669"/>
          </a:solidFill>
          <a:ln w="12700">
            <a:solidFill>
              <a:srgbClr val="059669"/>
            </a:solidFill>
            <a:prstDash val="solid"/>
          </a:ln>
        </p:spPr>
      </p:sp>
      <p:sp>
        <p:nvSpPr>
          <p:cNvPr id="57" name="Text 55"/>
          <p:cNvSpPr/>
          <p:nvPr/>
        </p:nvSpPr>
        <p:spPr>
          <a:xfrm>
            <a:off x="7470648" y="246888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Validation JS</a:t>
            </a:r>
            <a:endParaRPr lang="en-US" sz="1000" dirty="0"/>
          </a:p>
        </p:txBody>
      </p:sp>
      <p:sp>
        <p:nvSpPr>
          <p:cNvPr id="58" name="Shape 56"/>
          <p:cNvSpPr/>
          <p:nvPr/>
        </p:nvSpPr>
        <p:spPr>
          <a:xfrm>
            <a:off x="7242048" y="3200400"/>
            <a:ext cx="164592" cy="164592"/>
          </a:xfrm>
          <a:prstGeom prst="ellipse">
            <a:avLst/>
          </a:prstGeom>
          <a:solidFill>
            <a:srgbClr val="059669"/>
          </a:solidFill>
          <a:ln w="12700">
            <a:solidFill>
              <a:srgbClr val="059669"/>
            </a:solidFill>
            <a:prstDash val="solid"/>
          </a:ln>
        </p:spPr>
      </p:sp>
      <p:sp>
        <p:nvSpPr>
          <p:cNvPr id="59" name="Text 57"/>
          <p:cNvSpPr/>
          <p:nvPr/>
        </p:nvSpPr>
        <p:spPr>
          <a:xfrm>
            <a:off x="7470648" y="310896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Messages d'erreur</a:t>
            </a:r>
            <a:endParaRPr lang="en-US" sz="1000" dirty="0"/>
          </a:p>
        </p:txBody>
      </p:sp>
      <p:sp>
        <p:nvSpPr>
          <p:cNvPr id="60" name="Shape 58"/>
          <p:cNvSpPr/>
          <p:nvPr/>
        </p:nvSpPr>
        <p:spPr>
          <a:xfrm>
            <a:off x="7242048" y="3840480"/>
            <a:ext cx="164592" cy="164592"/>
          </a:xfrm>
          <a:prstGeom prst="ellipse">
            <a:avLst/>
          </a:prstGeom>
          <a:solidFill>
            <a:srgbClr val="059669"/>
          </a:solidFill>
          <a:ln w="12700">
            <a:solidFill>
              <a:srgbClr val="059669"/>
            </a:solidFill>
            <a:prstDash val="solid"/>
          </a:ln>
        </p:spPr>
      </p:sp>
      <p:sp>
        <p:nvSpPr>
          <p:cNvPr id="61" name="Text 59"/>
          <p:cNvSpPr/>
          <p:nvPr/>
        </p:nvSpPr>
        <p:spPr>
          <a:xfrm>
            <a:off x="7470648" y="374904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Message succès</a:t>
            </a:r>
            <a:endParaRPr lang="en-US" sz="1000" dirty="0"/>
          </a:p>
        </p:txBody>
      </p:sp>
      <p:sp>
        <p:nvSpPr>
          <p:cNvPr id="62" name="Shape 60"/>
          <p:cNvSpPr/>
          <p:nvPr/>
        </p:nvSpPr>
        <p:spPr>
          <a:xfrm>
            <a:off x="7242048" y="4480560"/>
            <a:ext cx="164592" cy="164592"/>
          </a:xfrm>
          <a:prstGeom prst="ellipse">
            <a:avLst/>
          </a:prstGeom>
          <a:solidFill>
            <a:srgbClr val="059669"/>
          </a:solidFill>
          <a:ln w="12700">
            <a:solidFill>
              <a:srgbClr val="059669"/>
            </a:solidFill>
            <a:prstDash val="solid"/>
          </a:ln>
        </p:spPr>
      </p:sp>
      <p:sp>
        <p:nvSpPr>
          <p:cNvPr id="63" name="Text 61"/>
          <p:cNvSpPr/>
          <p:nvPr/>
        </p:nvSpPr>
        <p:spPr>
          <a:xfrm>
            <a:off x="7470648" y="4389120"/>
            <a:ext cx="123444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Carte Maps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7315200" y="3200400"/>
            <a:ext cx="2743200" cy="2743200"/>
          </a:xfrm>
          <a:prstGeom prst="ellipse">
            <a:avLst/>
          </a:prstGeom>
          <a:solidFill>
            <a:srgbClr val="EF4444">
              <a:alpha val="15000"/>
            </a:srgbClr>
          </a:solidFill>
          <a:ln w="12700">
            <a:solidFill>
              <a:srgbClr val="EF4444">
                <a:alpha val="15000"/>
              </a:srgbClr>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Points Techniques JS &amp; CSS</a:t>
            </a:r>
            <a:endParaRPr lang="en-US" sz="2800" dirty="0"/>
          </a:p>
        </p:txBody>
      </p:sp>
      <p:sp>
        <p:nvSpPr>
          <p:cNvPr id="4" name="Shape 2"/>
          <p:cNvSpPr/>
          <p:nvPr/>
        </p:nvSpPr>
        <p:spPr>
          <a:xfrm>
            <a:off x="274320" y="1005840"/>
            <a:ext cx="4114800" cy="3657600"/>
          </a:xfrm>
          <a:prstGeom prst="roundRect">
            <a:avLst>
              <a:gd name="adj" fmla="val 3750"/>
            </a:avLst>
          </a:prstGeom>
          <a:solidFill>
            <a:srgbClr val="1E2D40"/>
          </a:solidFill>
          <a:ln w="12700">
            <a:solidFill>
              <a:srgbClr val="F7DF1E">
                <a:alpha val="50000"/>
              </a:srgbClr>
            </a:solidFill>
            <a:prstDash val="solid"/>
          </a:ln>
        </p:spPr>
      </p:sp>
      <p:sp>
        <p:nvSpPr>
          <p:cNvPr id="5" name="Shape 3"/>
          <p:cNvSpPr/>
          <p:nvPr/>
        </p:nvSpPr>
        <p:spPr>
          <a:xfrm>
            <a:off x="411480" y="1051560"/>
            <a:ext cx="1097280" cy="384048"/>
          </a:xfrm>
          <a:prstGeom prst="roundRect">
            <a:avLst>
              <a:gd name="adj" fmla="val 19048"/>
            </a:avLst>
          </a:prstGeom>
          <a:solidFill>
            <a:srgbClr val="F7DF1E"/>
          </a:solidFill>
          <a:ln w="12700">
            <a:solidFill>
              <a:srgbClr val="F7DF1E"/>
            </a:solidFill>
            <a:prstDash val="solid"/>
          </a:ln>
        </p:spPr>
      </p:sp>
      <p:sp>
        <p:nvSpPr>
          <p:cNvPr id="6" name="Text 4"/>
          <p:cNvSpPr/>
          <p:nvPr/>
        </p:nvSpPr>
        <p:spPr>
          <a:xfrm>
            <a:off x="411480" y="1051560"/>
            <a:ext cx="1097280" cy="384048"/>
          </a:xfrm>
          <a:prstGeom prst="rect">
            <a:avLst/>
          </a:prstGeom>
          <a:noFill/>
          <a:ln/>
        </p:spPr>
        <p:txBody>
          <a:bodyPr wrap="square" rtlCol="0" anchor="ctr"/>
          <a:lstStyle/>
          <a:p>
            <a:pPr marL="0" indent="0" algn="ctr">
              <a:buNone/>
            </a:pPr>
            <a:r>
              <a:rPr lang="en-US" sz="1400" b="1" dirty="0">
                <a:solidFill>
                  <a:srgbClr val="1E293B"/>
                </a:solidFill>
                <a:latin typeface="Cambria" pitchFamily="34" charset="0"/>
                <a:ea typeface="Cambria" pitchFamily="34" charset="-122"/>
                <a:cs typeface="Cambria" pitchFamily="34" charset="-120"/>
              </a:rPr>
              <a:t>JS</a:t>
            </a:r>
            <a:endParaRPr lang="en-US" sz="1400" dirty="0"/>
          </a:p>
        </p:txBody>
      </p:sp>
      <p:sp>
        <p:nvSpPr>
          <p:cNvPr id="7" name="Text 5"/>
          <p:cNvSpPr/>
          <p:nvPr/>
        </p:nvSpPr>
        <p:spPr>
          <a:xfrm>
            <a:off x="411480" y="1600200"/>
            <a:ext cx="1828800" cy="411480"/>
          </a:xfrm>
          <a:prstGeom prst="rect">
            <a:avLst/>
          </a:prstGeom>
          <a:noFill/>
          <a:ln/>
        </p:spPr>
        <p:txBody>
          <a:bodyPr wrap="square" rtlCol="0" anchor="ctr"/>
          <a:lstStyle/>
          <a:p>
            <a:pPr marL="0" indent="0">
              <a:buNone/>
            </a:pPr>
            <a:r>
              <a:rPr lang="en-US" sz="1100" b="1" dirty="0">
                <a:solidFill>
                  <a:srgbClr val="F7DF1E"/>
                </a:solidFill>
                <a:latin typeface="Calibri" pitchFamily="34" charset="0"/>
                <a:ea typeface="Calibri" pitchFamily="34" charset="-122"/>
                <a:cs typeface="Calibri" pitchFamily="34" charset="-120"/>
              </a:rPr>
              <a:t>DOMContentLoaded</a:t>
            </a:r>
            <a:endParaRPr lang="en-US" sz="1100" dirty="0"/>
          </a:p>
        </p:txBody>
      </p:sp>
      <p:sp>
        <p:nvSpPr>
          <p:cNvPr id="8" name="Text 6"/>
          <p:cNvSpPr/>
          <p:nvPr/>
        </p:nvSpPr>
        <p:spPr>
          <a:xfrm>
            <a:off x="2286000" y="1600200"/>
            <a:ext cx="1920240" cy="41148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Encapsulation de tout le JS</a:t>
            </a:r>
            <a:endParaRPr lang="en-US" sz="1100" dirty="0"/>
          </a:p>
        </p:txBody>
      </p:sp>
      <p:sp>
        <p:nvSpPr>
          <p:cNvPr id="9" name="Text 7"/>
          <p:cNvSpPr/>
          <p:nvPr/>
        </p:nvSpPr>
        <p:spPr>
          <a:xfrm>
            <a:off x="411480" y="2103120"/>
            <a:ext cx="1828800" cy="411480"/>
          </a:xfrm>
          <a:prstGeom prst="rect">
            <a:avLst/>
          </a:prstGeom>
          <a:noFill/>
          <a:ln/>
        </p:spPr>
        <p:txBody>
          <a:bodyPr wrap="square" rtlCol="0" anchor="ctr"/>
          <a:lstStyle/>
          <a:p>
            <a:pPr marL="0" indent="0">
              <a:buNone/>
            </a:pPr>
            <a:r>
              <a:rPr lang="en-US" sz="1100" b="1" dirty="0">
                <a:solidFill>
                  <a:srgbClr val="F7DF1E"/>
                </a:solidFill>
                <a:latin typeface="Calibri" pitchFamily="34" charset="0"/>
                <a:ea typeface="Calibri" pitchFamily="34" charset="-122"/>
                <a:cs typeface="Calibri" pitchFamily="34" charset="-120"/>
              </a:rPr>
              <a:t>IntersectionObserver</a:t>
            </a:r>
            <a:endParaRPr lang="en-US" sz="1100" dirty="0"/>
          </a:p>
        </p:txBody>
      </p:sp>
      <p:sp>
        <p:nvSpPr>
          <p:cNvPr id="10" name="Text 8"/>
          <p:cNvSpPr/>
          <p:nvPr/>
        </p:nvSpPr>
        <p:spPr>
          <a:xfrm>
            <a:off x="2286000" y="2103120"/>
            <a:ext cx="1920240" cy="41148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Animations au scroll (fade-in)</a:t>
            </a:r>
            <a:endParaRPr lang="en-US" sz="1100" dirty="0"/>
          </a:p>
        </p:txBody>
      </p:sp>
      <p:sp>
        <p:nvSpPr>
          <p:cNvPr id="11" name="Text 9"/>
          <p:cNvSpPr/>
          <p:nvPr/>
        </p:nvSpPr>
        <p:spPr>
          <a:xfrm>
            <a:off x="411480" y="2606040"/>
            <a:ext cx="1828800" cy="411480"/>
          </a:xfrm>
          <a:prstGeom prst="rect">
            <a:avLst/>
          </a:prstGeom>
          <a:noFill/>
          <a:ln/>
        </p:spPr>
        <p:txBody>
          <a:bodyPr wrap="square" rtlCol="0" anchor="ctr"/>
          <a:lstStyle/>
          <a:p>
            <a:pPr marL="0" indent="0">
              <a:buNone/>
            </a:pPr>
            <a:r>
              <a:rPr lang="en-US" sz="1100" b="1" dirty="0">
                <a:solidFill>
                  <a:srgbClr val="F7DF1E"/>
                </a:solidFill>
                <a:latin typeface="Calibri" pitchFamily="34" charset="0"/>
                <a:ea typeface="Calibri" pitchFamily="34" charset="-122"/>
                <a:cs typeface="Calibri" pitchFamily="34" charset="-120"/>
              </a:rPr>
              <a:t>localStorage</a:t>
            </a:r>
            <a:endParaRPr lang="en-US" sz="1100" dirty="0"/>
          </a:p>
        </p:txBody>
      </p:sp>
      <p:sp>
        <p:nvSpPr>
          <p:cNvPr id="12" name="Text 10"/>
          <p:cNvSpPr/>
          <p:nvPr/>
        </p:nvSpPr>
        <p:spPr>
          <a:xfrm>
            <a:off x="2286000" y="2606040"/>
            <a:ext cx="1920240" cy="41148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Sauvegarde du mode sombre</a:t>
            </a:r>
            <a:endParaRPr lang="en-US" sz="1100" dirty="0"/>
          </a:p>
        </p:txBody>
      </p:sp>
      <p:sp>
        <p:nvSpPr>
          <p:cNvPr id="13" name="Text 11"/>
          <p:cNvSpPr/>
          <p:nvPr/>
        </p:nvSpPr>
        <p:spPr>
          <a:xfrm>
            <a:off x="411480" y="3108960"/>
            <a:ext cx="1828800" cy="411480"/>
          </a:xfrm>
          <a:prstGeom prst="rect">
            <a:avLst/>
          </a:prstGeom>
          <a:noFill/>
          <a:ln/>
        </p:spPr>
        <p:txBody>
          <a:bodyPr wrap="square" rtlCol="0" anchor="ctr"/>
          <a:lstStyle/>
          <a:p>
            <a:pPr marL="0" indent="0">
              <a:buNone/>
            </a:pPr>
            <a:r>
              <a:rPr lang="en-US" sz="1100" b="1" dirty="0">
                <a:solidFill>
                  <a:srgbClr val="F7DF1E"/>
                </a:solidFill>
                <a:latin typeface="Calibri" pitchFamily="34" charset="0"/>
                <a:ea typeface="Calibri" pitchFamily="34" charset="-122"/>
                <a:cs typeface="Calibri" pitchFamily="34" charset="-120"/>
              </a:rPr>
              <a:t>classList.toggle()</a:t>
            </a:r>
            <a:endParaRPr lang="en-US" sz="1100" dirty="0"/>
          </a:p>
        </p:txBody>
      </p:sp>
      <p:sp>
        <p:nvSpPr>
          <p:cNvPr id="14" name="Text 12"/>
          <p:cNvSpPr/>
          <p:nvPr/>
        </p:nvSpPr>
        <p:spPr>
          <a:xfrm>
            <a:off x="2286000" y="3108960"/>
            <a:ext cx="1920240" cy="41148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Bascule dark/light mode</a:t>
            </a:r>
            <a:endParaRPr lang="en-US" sz="1100" dirty="0"/>
          </a:p>
        </p:txBody>
      </p:sp>
      <p:sp>
        <p:nvSpPr>
          <p:cNvPr id="15" name="Text 13"/>
          <p:cNvSpPr/>
          <p:nvPr/>
        </p:nvSpPr>
        <p:spPr>
          <a:xfrm>
            <a:off x="411480" y="3611880"/>
            <a:ext cx="1828800" cy="411480"/>
          </a:xfrm>
          <a:prstGeom prst="rect">
            <a:avLst/>
          </a:prstGeom>
          <a:noFill/>
          <a:ln/>
        </p:spPr>
        <p:txBody>
          <a:bodyPr wrap="square" rtlCol="0" anchor="ctr"/>
          <a:lstStyle/>
          <a:p>
            <a:pPr marL="0" indent="0">
              <a:buNone/>
            </a:pPr>
            <a:r>
              <a:rPr lang="en-US" sz="1100" b="1" dirty="0">
                <a:solidFill>
                  <a:srgbClr val="F7DF1E"/>
                </a:solidFill>
                <a:latin typeface="Calibri" pitchFamily="34" charset="0"/>
                <a:ea typeface="Calibri" pitchFamily="34" charset="-122"/>
                <a:cs typeface="Calibri" pitchFamily="34" charset="-120"/>
              </a:rPr>
              <a:t>filter() / forEach()</a:t>
            </a:r>
            <a:endParaRPr lang="en-US" sz="1100" dirty="0"/>
          </a:p>
        </p:txBody>
      </p:sp>
      <p:sp>
        <p:nvSpPr>
          <p:cNvPr id="16" name="Text 14"/>
          <p:cNvSpPr/>
          <p:nvPr/>
        </p:nvSpPr>
        <p:spPr>
          <a:xfrm>
            <a:off x="2286000" y="3611880"/>
            <a:ext cx="1920240" cy="41148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Filtrage dynamique des freelances</a:t>
            </a:r>
            <a:endParaRPr lang="en-US" sz="1100" dirty="0"/>
          </a:p>
        </p:txBody>
      </p:sp>
      <p:sp>
        <p:nvSpPr>
          <p:cNvPr id="17" name="Text 15"/>
          <p:cNvSpPr/>
          <p:nvPr/>
        </p:nvSpPr>
        <p:spPr>
          <a:xfrm>
            <a:off x="411480" y="4114800"/>
            <a:ext cx="1828800" cy="411480"/>
          </a:xfrm>
          <a:prstGeom prst="rect">
            <a:avLst/>
          </a:prstGeom>
          <a:noFill/>
          <a:ln/>
        </p:spPr>
        <p:txBody>
          <a:bodyPr wrap="square" rtlCol="0" anchor="ctr"/>
          <a:lstStyle/>
          <a:p>
            <a:pPr marL="0" indent="0">
              <a:buNone/>
            </a:pPr>
            <a:r>
              <a:rPr lang="en-US" sz="1100" b="1" dirty="0">
                <a:solidFill>
                  <a:srgbClr val="F7DF1E"/>
                </a:solidFill>
                <a:latin typeface="Calibri" pitchFamily="34" charset="0"/>
                <a:ea typeface="Calibri" pitchFamily="34" charset="-122"/>
                <a:cs typeface="Calibri" pitchFamily="34" charset="-120"/>
              </a:rPr>
              <a:t>addEventListener()</a:t>
            </a:r>
            <a:endParaRPr lang="en-US" sz="1100" dirty="0"/>
          </a:p>
        </p:txBody>
      </p:sp>
      <p:sp>
        <p:nvSpPr>
          <p:cNvPr id="18" name="Text 16"/>
          <p:cNvSpPr/>
          <p:nvPr/>
        </p:nvSpPr>
        <p:spPr>
          <a:xfrm>
            <a:off x="2286000" y="4114800"/>
            <a:ext cx="1920240" cy="41148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Validation du formulaire contact</a:t>
            </a:r>
            <a:endParaRPr lang="en-US" sz="1100" dirty="0"/>
          </a:p>
        </p:txBody>
      </p:sp>
      <p:sp>
        <p:nvSpPr>
          <p:cNvPr id="19" name="Shape 17"/>
          <p:cNvSpPr/>
          <p:nvPr/>
        </p:nvSpPr>
        <p:spPr>
          <a:xfrm>
            <a:off x="4754880" y="1005840"/>
            <a:ext cx="4114800" cy="3657600"/>
          </a:xfrm>
          <a:prstGeom prst="roundRect">
            <a:avLst>
              <a:gd name="adj" fmla="val 3750"/>
            </a:avLst>
          </a:prstGeom>
          <a:solidFill>
            <a:srgbClr val="1E2D40"/>
          </a:solidFill>
          <a:ln w="12700">
            <a:solidFill>
              <a:srgbClr val="1572B6">
                <a:alpha val="50000"/>
              </a:srgbClr>
            </a:solidFill>
            <a:prstDash val="solid"/>
          </a:ln>
        </p:spPr>
      </p:sp>
      <p:sp>
        <p:nvSpPr>
          <p:cNvPr id="20" name="Shape 18"/>
          <p:cNvSpPr/>
          <p:nvPr/>
        </p:nvSpPr>
        <p:spPr>
          <a:xfrm>
            <a:off x="4892040" y="1051560"/>
            <a:ext cx="1097280" cy="384048"/>
          </a:xfrm>
          <a:prstGeom prst="roundRect">
            <a:avLst>
              <a:gd name="adj" fmla="val 19048"/>
            </a:avLst>
          </a:prstGeom>
          <a:solidFill>
            <a:srgbClr val="1572B6"/>
          </a:solidFill>
          <a:ln w="12700">
            <a:solidFill>
              <a:srgbClr val="1572B6"/>
            </a:solidFill>
            <a:prstDash val="solid"/>
          </a:ln>
        </p:spPr>
      </p:sp>
      <p:sp>
        <p:nvSpPr>
          <p:cNvPr id="21" name="Text 19"/>
          <p:cNvSpPr/>
          <p:nvPr/>
        </p:nvSpPr>
        <p:spPr>
          <a:xfrm>
            <a:off x="4892040" y="1051560"/>
            <a:ext cx="1097280"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CSS3</a:t>
            </a:r>
            <a:endParaRPr lang="en-US" sz="1400" dirty="0"/>
          </a:p>
        </p:txBody>
      </p:sp>
      <p:sp>
        <p:nvSpPr>
          <p:cNvPr id="22" name="Text 20"/>
          <p:cNvSpPr/>
          <p:nvPr/>
        </p:nvSpPr>
        <p:spPr>
          <a:xfrm>
            <a:off x="4892040" y="1600200"/>
            <a:ext cx="1920240" cy="411480"/>
          </a:xfrm>
          <a:prstGeom prst="rect">
            <a:avLst/>
          </a:prstGeom>
          <a:noFill/>
          <a:ln/>
        </p:spPr>
        <p:txBody>
          <a:bodyPr wrap="square"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Variables CSS</a:t>
            </a:r>
            <a:endParaRPr lang="en-US" sz="1100" dirty="0"/>
          </a:p>
        </p:txBody>
      </p:sp>
      <p:sp>
        <p:nvSpPr>
          <p:cNvPr id="23" name="Text 21"/>
          <p:cNvSpPr/>
          <p:nvPr/>
        </p:nvSpPr>
        <p:spPr>
          <a:xfrm>
            <a:off x="6858000" y="1600200"/>
            <a:ext cx="1828800" cy="41148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:root { --primary: #F97316 }</a:t>
            </a:r>
            <a:endParaRPr lang="en-US" sz="1000" dirty="0"/>
          </a:p>
        </p:txBody>
      </p:sp>
      <p:sp>
        <p:nvSpPr>
          <p:cNvPr id="24" name="Text 22"/>
          <p:cNvSpPr/>
          <p:nvPr/>
        </p:nvSpPr>
        <p:spPr>
          <a:xfrm>
            <a:off x="4892040" y="2103120"/>
            <a:ext cx="1920240" cy="411480"/>
          </a:xfrm>
          <a:prstGeom prst="rect">
            <a:avLst/>
          </a:prstGeom>
          <a:noFill/>
          <a:ln/>
        </p:spPr>
        <p:txBody>
          <a:bodyPr wrap="square"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Flexbox / Grid</a:t>
            </a:r>
            <a:endParaRPr lang="en-US" sz="1100" dirty="0"/>
          </a:p>
        </p:txBody>
      </p:sp>
      <p:sp>
        <p:nvSpPr>
          <p:cNvPr id="25" name="Text 23"/>
          <p:cNvSpPr/>
          <p:nvPr/>
        </p:nvSpPr>
        <p:spPr>
          <a:xfrm>
            <a:off x="6858000" y="2103120"/>
            <a:ext cx="1828800" cy="41148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Layouts modernes</a:t>
            </a:r>
            <a:endParaRPr lang="en-US" sz="1000" dirty="0"/>
          </a:p>
        </p:txBody>
      </p:sp>
      <p:sp>
        <p:nvSpPr>
          <p:cNvPr id="26" name="Text 24"/>
          <p:cNvSpPr/>
          <p:nvPr/>
        </p:nvSpPr>
        <p:spPr>
          <a:xfrm>
            <a:off x="4892040" y="2606040"/>
            <a:ext cx="1920240" cy="411480"/>
          </a:xfrm>
          <a:prstGeom prst="rect">
            <a:avLst/>
          </a:prstGeom>
          <a:noFill/>
          <a:ln/>
        </p:spPr>
        <p:txBody>
          <a:bodyPr wrap="square"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@keyframes</a:t>
            </a:r>
            <a:endParaRPr lang="en-US" sz="1100" dirty="0"/>
          </a:p>
        </p:txBody>
      </p:sp>
      <p:sp>
        <p:nvSpPr>
          <p:cNvPr id="27" name="Text 25"/>
          <p:cNvSpPr/>
          <p:nvPr/>
        </p:nvSpPr>
        <p:spPr>
          <a:xfrm>
            <a:off x="6858000" y="2606040"/>
            <a:ext cx="1828800" cy="41148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Animations personnalisées</a:t>
            </a:r>
            <a:endParaRPr lang="en-US" sz="1000" dirty="0"/>
          </a:p>
        </p:txBody>
      </p:sp>
      <p:sp>
        <p:nvSpPr>
          <p:cNvPr id="28" name="Text 26"/>
          <p:cNvSpPr/>
          <p:nvPr/>
        </p:nvSpPr>
        <p:spPr>
          <a:xfrm>
            <a:off x="4892040" y="3108960"/>
            <a:ext cx="1920240" cy="411480"/>
          </a:xfrm>
          <a:prstGeom prst="rect">
            <a:avLst/>
          </a:prstGeom>
          <a:noFill/>
          <a:ln/>
        </p:spPr>
        <p:txBody>
          <a:bodyPr wrap="square"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transition:</a:t>
            </a:r>
            <a:endParaRPr lang="en-US" sz="1100" dirty="0"/>
          </a:p>
        </p:txBody>
      </p:sp>
      <p:sp>
        <p:nvSpPr>
          <p:cNvPr id="29" name="Text 27"/>
          <p:cNvSpPr/>
          <p:nvPr/>
        </p:nvSpPr>
        <p:spPr>
          <a:xfrm>
            <a:off x="6858000" y="3108960"/>
            <a:ext cx="1828800" cy="41148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Effets de survol fluides</a:t>
            </a:r>
            <a:endParaRPr lang="en-US" sz="1000" dirty="0"/>
          </a:p>
        </p:txBody>
      </p:sp>
      <p:sp>
        <p:nvSpPr>
          <p:cNvPr id="30" name="Text 28"/>
          <p:cNvSpPr/>
          <p:nvPr/>
        </p:nvSpPr>
        <p:spPr>
          <a:xfrm>
            <a:off x="4892040" y="3611880"/>
            <a:ext cx="1920240" cy="411480"/>
          </a:xfrm>
          <a:prstGeom prst="rect">
            <a:avLst/>
          </a:prstGeom>
          <a:noFill/>
          <a:ln/>
        </p:spPr>
        <p:txBody>
          <a:bodyPr wrap="square"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@media queries</a:t>
            </a:r>
            <a:endParaRPr lang="en-US" sz="1100" dirty="0"/>
          </a:p>
        </p:txBody>
      </p:sp>
      <p:sp>
        <p:nvSpPr>
          <p:cNvPr id="31" name="Text 29"/>
          <p:cNvSpPr/>
          <p:nvPr/>
        </p:nvSpPr>
        <p:spPr>
          <a:xfrm>
            <a:off x="6858000" y="3611880"/>
            <a:ext cx="1828800" cy="41148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Responsive mobile/tablette</a:t>
            </a:r>
            <a:endParaRPr lang="en-US" sz="1000" dirty="0"/>
          </a:p>
        </p:txBody>
      </p:sp>
      <p:sp>
        <p:nvSpPr>
          <p:cNvPr id="32" name="Text 30"/>
          <p:cNvSpPr/>
          <p:nvPr/>
        </p:nvSpPr>
        <p:spPr>
          <a:xfrm>
            <a:off x="4892040" y="4114800"/>
            <a:ext cx="1920240" cy="411480"/>
          </a:xfrm>
          <a:prstGeom prst="rect">
            <a:avLst/>
          </a:prstGeom>
          <a:noFill/>
          <a:ln/>
        </p:spPr>
        <p:txBody>
          <a:bodyPr wrap="square"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[data-theme='dark']</a:t>
            </a:r>
            <a:endParaRPr lang="en-US" sz="1100" dirty="0"/>
          </a:p>
        </p:txBody>
      </p:sp>
      <p:sp>
        <p:nvSpPr>
          <p:cNvPr id="33" name="Text 31"/>
          <p:cNvSpPr/>
          <p:nvPr/>
        </p:nvSpPr>
        <p:spPr>
          <a:xfrm>
            <a:off x="6858000" y="4114800"/>
            <a:ext cx="1828800" cy="41148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Thème sombre CSS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731520" y="-457200"/>
            <a:ext cx="2743200" cy="2743200"/>
          </a:xfrm>
          <a:prstGeom prst="ellipse">
            <a:avLst/>
          </a:prstGeom>
          <a:solidFill>
            <a:srgbClr val="64748B">
              <a:alpha val="15000"/>
            </a:srgbClr>
          </a:solidFill>
          <a:ln w="12700">
            <a:solidFill>
              <a:srgbClr val="64748B">
                <a:alpha val="15000"/>
              </a:srgbClr>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GitHub &amp; Workflow Git</a:t>
            </a:r>
            <a:endParaRPr lang="en-US" sz="2800" dirty="0"/>
          </a:p>
        </p:txBody>
      </p:sp>
      <p:sp>
        <p:nvSpPr>
          <p:cNvPr id="4" name="Shape 2"/>
          <p:cNvSpPr/>
          <p:nvPr/>
        </p:nvSpPr>
        <p:spPr>
          <a:xfrm>
            <a:off x="457200" y="914400"/>
            <a:ext cx="8229600" cy="548640"/>
          </a:xfrm>
          <a:prstGeom prst="roundRect">
            <a:avLst>
              <a:gd name="adj" fmla="val 16667"/>
            </a:avLst>
          </a:prstGeom>
          <a:solidFill>
            <a:srgbClr val="161B22"/>
          </a:solidFill>
          <a:ln w="12700">
            <a:solidFill>
              <a:srgbClr val="30363D"/>
            </a:solidFill>
            <a:prstDash val="solid"/>
          </a:ln>
        </p:spPr>
      </p:sp>
      <p:sp>
        <p:nvSpPr>
          <p:cNvPr id="5" name="Text 3"/>
          <p:cNvSpPr/>
          <p:nvPr/>
        </p:nvSpPr>
        <p:spPr>
          <a:xfrm>
            <a:off x="457200" y="914400"/>
            <a:ext cx="8229600" cy="548640"/>
          </a:xfrm>
          <a:prstGeom prst="rect">
            <a:avLst/>
          </a:prstGeom>
          <a:noFill/>
          <a:ln/>
        </p:spPr>
        <p:txBody>
          <a:bodyPr wrap="square" rtlCol="0" anchor="ctr"/>
          <a:lstStyle/>
          <a:p>
            <a:pPr marL="0" indent="0" algn="ctr">
              <a:buNone/>
            </a:pPr>
            <a:r>
              <a:rPr lang="en-US" sz="1100" dirty="0">
                <a:solidFill>
                  <a:srgbClr val="58A6FF"/>
                </a:solidFill>
                <a:latin typeface="Calibri" pitchFamily="34" charset="0"/>
                <a:ea typeface="Calibri" pitchFamily="34" charset="-122"/>
                <a:cs typeface="Calibri" pitchFamily="34" charset="-120"/>
              </a:rPr>
              <a:t>🔗  github.com/samb444/samb-cod-AfriTalent  |  📡  samb444.github.io/samb-cod-AfriTalent/</a:t>
            </a:r>
            <a:endParaRPr lang="en-US" sz="1100" dirty="0"/>
          </a:p>
        </p:txBody>
      </p:sp>
      <p:sp>
        <p:nvSpPr>
          <p:cNvPr id="6" name="Shape 4"/>
          <p:cNvSpPr/>
          <p:nvPr/>
        </p:nvSpPr>
        <p:spPr>
          <a:xfrm>
            <a:off x="365760" y="1691640"/>
            <a:ext cx="2011680" cy="1325880"/>
          </a:xfrm>
          <a:prstGeom prst="roundRect">
            <a:avLst>
              <a:gd name="adj" fmla="val 8276"/>
            </a:avLst>
          </a:prstGeom>
          <a:solidFill>
            <a:srgbClr val="161B22"/>
          </a:solidFill>
          <a:ln w="12700">
            <a:solidFill>
              <a:srgbClr val="0D9488">
                <a:alpha val="60000"/>
              </a:srgbClr>
            </a:solidFill>
            <a:prstDash val="solid"/>
          </a:ln>
          <a:effectLst>
            <a:outerShdw blurRad="101600" dist="38100" dir="2700000" algn="bl" rotWithShape="0">
              <a:srgbClr val="000000">
                <a:alpha val="18000"/>
              </a:srgbClr>
            </a:outerShdw>
          </a:effectLst>
        </p:spPr>
      </p:sp>
      <p:sp>
        <p:nvSpPr>
          <p:cNvPr id="7" name="Shape 5"/>
          <p:cNvSpPr/>
          <p:nvPr/>
        </p:nvSpPr>
        <p:spPr>
          <a:xfrm>
            <a:off x="475488" y="1801368"/>
            <a:ext cx="365760" cy="365760"/>
          </a:xfrm>
          <a:prstGeom prst="ellipse">
            <a:avLst/>
          </a:prstGeom>
          <a:solidFill>
            <a:srgbClr val="0D9488"/>
          </a:solidFill>
          <a:ln w="12700">
            <a:solidFill>
              <a:srgbClr val="0D9488"/>
            </a:solidFill>
            <a:prstDash val="solid"/>
          </a:ln>
        </p:spPr>
      </p:sp>
      <p:sp>
        <p:nvSpPr>
          <p:cNvPr id="8" name="Text 6"/>
          <p:cNvSpPr/>
          <p:nvPr/>
        </p:nvSpPr>
        <p:spPr>
          <a:xfrm>
            <a:off x="475488" y="1801368"/>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9" name="Text 7"/>
          <p:cNvSpPr/>
          <p:nvPr/>
        </p:nvSpPr>
        <p:spPr>
          <a:xfrm>
            <a:off x="914400" y="1783080"/>
            <a:ext cx="1371600" cy="384048"/>
          </a:xfrm>
          <a:prstGeom prst="rect">
            <a:avLst/>
          </a:prstGeom>
          <a:noFill/>
          <a:ln/>
        </p:spPr>
        <p:txBody>
          <a:bodyPr wrap="square"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Init projet</a:t>
            </a:r>
            <a:endParaRPr lang="en-US" sz="1200" dirty="0"/>
          </a:p>
        </p:txBody>
      </p:sp>
      <p:sp>
        <p:nvSpPr>
          <p:cNvPr id="10" name="Text 8"/>
          <p:cNvSpPr/>
          <p:nvPr/>
        </p:nvSpPr>
        <p:spPr>
          <a:xfrm>
            <a:off x="475488" y="2258568"/>
            <a:ext cx="1828800" cy="64008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Structure HTML de base, dossiers organisés</a:t>
            </a:r>
            <a:endParaRPr lang="en-US" sz="1000" dirty="0"/>
          </a:p>
        </p:txBody>
      </p:sp>
      <p:sp>
        <p:nvSpPr>
          <p:cNvPr id="11" name="Shape 9"/>
          <p:cNvSpPr/>
          <p:nvPr/>
        </p:nvSpPr>
        <p:spPr>
          <a:xfrm>
            <a:off x="2542032" y="1691640"/>
            <a:ext cx="2011680" cy="1325880"/>
          </a:xfrm>
          <a:prstGeom prst="roundRect">
            <a:avLst>
              <a:gd name="adj" fmla="val 8276"/>
            </a:avLst>
          </a:prstGeom>
          <a:solidFill>
            <a:srgbClr val="161B22"/>
          </a:solidFill>
          <a:ln w="12700">
            <a:solidFill>
              <a:srgbClr val="0284C7">
                <a:alpha val="60000"/>
              </a:srgbClr>
            </a:solidFill>
            <a:prstDash val="solid"/>
          </a:ln>
          <a:effectLst>
            <a:outerShdw blurRad="101600" dist="38100" dir="2700000" algn="bl" rotWithShape="0">
              <a:srgbClr val="000000">
                <a:alpha val="18000"/>
              </a:srgbClr>
            </a:outerShdw>
          </a:effectLst>
        </p:spPr>
      </p:sp>
      <p:sp>
        <p:nvSpPr>
          <p:cNvPr id="12" name="Shape 10"/>
          <p:cNvSpPr/>
          <p:nvPr/>
        </p:nvSpPr>
        <p:spPr>
          <a:xfrm>
            <a:off x="2651760" y="1801368"/>
            <a:ext cx="365760" cy="365760"/>
          </a:xfrm>
          <a:prstGeom prst="ellipse">
            <a:avLst/>
          </a:prstGeom>
          <a:solidFill>
            <a:srgbClr val="0284C7"/>
          </a:solidFill>
          <a:ln w="12700">
            <a:solidFill>
              <a:srgbClr val="0284C7"/>
            </a:solidFill>
            <a:prstDash val="solid"/>
          </a:ln>
        </p:spPr>
      </p:sp>
      <p:sp>
        <p:nvSpPr>
          <p:cNvPr id="13" name="Text 11"/>
          <p:cNvSpPr/>
          <p:nvPr/>
        </p:nvSpPr>
        <p:spPr>
          <a:xfrm>
            <a:off x="2651760" y="1801368"/>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4" name="Text 12"/>
          <p:cNvSpPr/>
          <p:nvPr/>
        </p:nvSpPr>
        <p:spPr>
          <a:xfrm>
            <a:off x="3090672" y="1783080"/>
            <a:ext cx="1371600" cy="384048"/>
          </a:xfrm>
          <a:prstGeom prst="rect">
            <a:avLst/>
          </a:prstGeom>
          <a:noFill/>
          <a:ln/>
        </p:spPr>
        <p:txBody>
          <a:bodyPr wrap="square"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Bootstrap</a:t>
            </a:r>
            <a:endParaRPr lang="en-US" sz="1200" dirty="0"/>
          </a:p>
        </p:txBody>
      </p:sp>
      <p:sp>
        <p:nvSpPr>
          <p:cNvPr id="15" name="Text 13"/>
          <p:cNvSpPr/>
          <p:nvPr/>
        </p:nvSpPr>
        <p:spPr>
          <a:xfrm>
            <a:off x="2651760" y="2258568"/>
            <a:ext cx="1828800" cy="64008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Navbar, footer, composants Bootstrap 5</a:t>
            </a:r>
            <a:endParaRPr lang="en-US" sz="1000" dirty="0"/>
          </a:p>
        </p:txBody>
      </p:sp>
      <p:sp>
        <p:nvSpPr>
          <p:cNvPr id="16" name="Shape 14"/>
          <p:cNvSpPr/>
          <p:nvPr/>
        </p:nvSpPr>
        <p:spPr>
          <a:xfrm>
            <a:off x="4718304" y="1691640"/>
            <a:ext cx="2011680" cy="1325880"/>
          </a:xfrm>
          <a:prstGeom prst="roundRect">
            <a:avLst>
              <a:gd name="adj" fmla="val 8276"/>
            </a:avLst>
          </a:prstGeom>
          <a:solidFill>
            <a:srgbClr val="161B22"/>
          </a:solidFill>
          <a:ln w="12700">
            <a:solidFill>
              <a:srgbClr val="7C3AED">
                <a:alpha val="60000"/>
              </a:srgbClr>
            </a:solidFill>
            <a:prstDash val="solid"/>
          </a:ln>
          <a:effectLst>
            <a:outerShdw blurRad="101600" dist="38100" dir="2700000" algn="bl" rotWithShape="0">
              <a:srgbClr val="000000">
                <a:alpha val="18000"/>
              </a:srgbClr>
            </a:outerShdw>
          </a:effectLst>
        </p:spPr>
      </p:sp>
      <p:sp>
        <p:nvSpPr>
          <p:cNvPr id="17" name="Shape 15"/>
          <p:cNvSpPr/>
          <p:nvPr/>
        </p:nvSpPr>
        <p:spPr>
          <a:xfrm>
            <a:off x="4828032" y="1801368"/>
            <a:ext cx="365760" cy="365760"/>
          </a:xfrm>
          <a:prstGeom prst="ellipse">
            <a:avLst/>
          </a:prstGeom>
          <a:solidFill>
            <a:srgbClr val="7C3AED"/>
          </a:solidFill>
          <a:ln w="12700">
            <a:solidFill>
              <a:srgbClr val="7C3AED"/>
            </a:solidFill>
            <a:prstDash val="solid"/>
          </a:ln>
        </p:spPr>
      </p:sp>
      <p:sp>
        <p:nvSpPr>
          <p:cNvPr id="18" name="Text 16"/>
          <p:cNvSpPr/>
          <p:nvPr/>
        </p:nvSpPr>
        <p:spPr>
          <a:xfrm>
            <a:off x="4828032" y="1801368"/>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9" name="Text 17"/>
          <p:cNvSpPr/>
          <p:nvPr/>
        </p:nvSpPr>
        <p:spPr>
          <a:xfrm>
            <a:off x="5266944" y="1783080"/>
            <a:ext cx="1371600" cy="384048"/>
          </a:xfrm>
          <a:prstGeom prst="rect">
            <a:avLst/>
          </a:prstGeom>
          <a:noFill/>
          <a:ln/>
        </p:spPr>
        <p:txBody>
          <a:bodyPr wrap="square"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CSS Variables</a:t>
            </a:r>
            <a:endParaRPr lang="en-US" sz="1200" dirty="0"/>
          </a:p>
        </p:txBody>
      </p:sp>
      <p:sp>
        <p:nvSpPr>
          <p:cNvPr id="20" name="Text 18"/>
          <p:cNvSpPr/>
          <p:nvPr/>
        </p:nvSpPr>
        <p:spPr>
          <a:xfrm>
            <a:off x="4828032" y="2258568"/>
            <a:ext cx="1828800" cy="64008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Palette, variables, identité visuelle</a:t>
            </a:r>
            <a:endParaRPr lang="en-US" sz="1000" dirty="0"/>
          </a:p>
        </p:txBody>
      </p:sp>
      <p:sp>
        <p:nvSpPr>
          <p:cNvPr id="21" name="Shape 19"/>
          <p:cNvSpPr/>
          <p:nvPr/>
        </p:nvSpPr>
        <p:spPr>
          <a:xfrm>
            <a:off x="6894576" y="1691640"/>
            <a:ext cx="2011680" cy="1325880"/>
          </a:xfrm>
          <a:prstGeom prst="roundRect">
            <a:avLst>
              <a:gd name="adj" fmla="val 8276"/>
            </a:avLst>
          </a:prstGeom>
          <a:solidFill>
            <a:srgbClr val="161B22"/>
          </a:solidFill>
          <a:ln w="12700">
            <a:solidFill>
              <a:srgbClr val="F97316">
                <a:alpha val="60000"/>
              </a:srgbClr>
            </a:solidFill>
            <a:prstDash val="solid"/>
          </a:ln>
          <a:effectLst>
            <a:outerShdw blurRad="101600" dist="38100" dir="2700000" algn="bl" rotWithShape="0">
              <a:srgbClr val="000000">
                <a:alpha val="18000"/>
              </a:srgbClr>
            </a:outerShdw>
          </a:effectLst>
        </p:spPr>
      </p:sp>
      <p:sp>
        <p:nvSpPr>
          <p:cNvPr id="22" name="Shape 20"/>
          <p:cNvSpPr/>
          <p:nvPr/>
        </p:nvSpPr>
        <p:spPr>
          <a:xfrm>
            <a:off x="7004304" y="1801368"/>
            <a:ext cx="365760" cy="365760"/>
          </a:xfrm>
          <a:prstGeom prst="ellipse">
            <a:avLst/>
          </a:prstGeom>
          <a:solidFill>
            <a:srgbClr val="F97316"/>
          </a:solidFill>
          <a:ln w="12700">
            <a:solidFill>
              <a:srgbClr val="F97316"/>
            </a:solidFill>
            <a:prstDash val="solid"/>
          </a:ln>
        </p:spPr>
      </p:sp>
      <p:sp>
        <p:nvSpPr>
          <p:cNvPr id="23" name="Text 21"/>
          <p:cNvSpPr/>
          <p:nvPr/>
        </p:nvSpPr>
        <p:spPr>
          <a:xfrm>
            <a:off x="7004304" y="1801368"/>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4" name="Text 22"/>
          <p:cNvSpPr/>
          <p:nvPr/>
        </p:nvSpPr>
        <p:spPr>
          <a:xfrm>
            <a:off x="7443216" y="1783080"/>
            <a:ext cx="1371600" cy="384048"/>
          </a:xfrm>
          <a:prstGeom prst="rect">
            <a:avLst/>
          </a:prstGeom>
          <a:noFill/>
          <a:ln/>
        </p:spPr>
        <p:txBody>
          <a:bodyPr wrap="square"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Hero &amp; Sections</a:t>
            </a:r>
            <a:endParaRPr lang="en-US" sz="1200" dirty="0"/>
          </a:p>
        </p:txBody>
      </p:sp>
      <p:sp>
        <p:nvSpPr>
          <p:cNvPr id="25" name="Text 23"/>
          <p:cNvSpPr/>
          <p:nvPr/>
        </p:nvSpPr>
        <p:spPr>
          <a:xfrm>
            <a:off x="7004304" y="2258568"/>
            <a:ext cx="1828800" cy="64008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Hero, Bento Grid, services, témoignages</a:t>
            </a:r>
            <a:endParaRPr lang="en-US" sz="1000" dirty="0"/>
          </a:p>
        </p:txBody>
      </p:sp>
      <p:sp>
        <p:nvSpPr>
          <p:cNvPr id="26" name="Shape 24"/>
          <p:cNvSpPr/>
          <p:nvPr/>
        </p:nvSpPr>
        <p:spPr>
          <a:xfrm>
            <a:off x="365760" y="3200400"/>
            <a:ext cx="2011680" cy="1325880"/>
          </a:xfrm>
          <a:prstGeom prst="roundRect">
            <a:avLst>
              <a:gd name="adj" fmla="val 8276"/>
            </a:avLst>
          </a:prstGeom>
          <a:solidFill>
            <a:srgbClr val="161B22"/>
          </a:solidFill>
          <a:ln w="12700">
            <a:solidFill>
              <a:srgbClr val="059669">
                <a:alpha val="60000"/>
              </a:srgbClr>
            </a:solidFill>
            <a:prstDash val="solid"/>
          </a:ln>
          <a:effectLst>
            <a:outerShdw blurRad="101600" dist="38100" dir="2700000" algn="bl" rotWithShape="0">
              <a:srgbClr val="000000">
                <a:alpha val="18000"/>
              </a:srgbClr>
            </a:outerShdw>
          </a:effectLst>
        </p:spPr>
      </p:sp>
      <p:sp>
        <p:nvSpPr>
          <p:cNvPr id="27" name="Shape 25"/>
          <p:cNvSpPr/>
          <p:nvPr/>
        </p:nvSpPr>
        <p:spPr>
          <a:xfrm>
            <a:off x="475488" y="3310128"/>
            <a:ext cx="365760" cy="365760"/>
          </a:xfrm>
          <a:prstGeom prst="ellipse">
            <a:avLst/>
          </a:prstGeom>
          <a:solidFill>
            <a:srgbClr val="059669"/>
          </a:solidFill>
          <a:ln w="12700">
            <a:solidFill>
              <a:srgbClr val="059669"/>
            </a:solidFill>
            <a:prstDash val="solid"/>
          </a:ln>
        </p:spPr>
      </p:sp>
      <p:sp>
        <p:nvSpPr>
          <p:cNvPr id="28" name="Text 26"/>
          <p:cNvSpPr/>
          <p:nvPr/>
        </p:nvSpPr>
        <p:spPr>
          <a:xfrm>
            <a:off x="475488" y="3310128"/>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9" name="Text 27"/>
          <p:cNvSpPr/>
          <p:nvPr/>
        </p:nvSpPr>
        <p:spPr>
          <a:xfrm>
            <a:off x="914400" y="3291840"/>
            <a:ext cx="1371600" cy="384048"/>
          </a:xfrm>
          <a:prstGeom prst="rect">
            <a:avLst/>
          </a:prstGeom>
          <a:noFill/>
          <a:ln/>
        </p:spPr>
        <p:txBody>
          <a:bodyPr wrap="square"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Pages secondaires</a:t>
            </a:r>
            <a:endParaRPr lang="en-US" sz="1200" dirty="0"/>
          </a:p>
        </p:txBody>
      </p:sp>
      <p:sp>
        <p:nvSpPr>
          <p:cNvPr id="30" name="Text 28"/>
          <p:cNvSpPr/>
          <p:nvPr/>
        </p:nvSpPr>
        <p:spPr>
          <a:xfrm>
            <a:off x="475488" y="3767328"/>
            <a:ext cx="1828800" cy="64008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Freelances, Tarifs, About, Contact</a:t>
            </a:r>
            <a:endParaRPr lang="en-US" sz="1000" dirty="0"/>
          </a:p>
        </p:txBody>
      </p:sp>
      <p:sp>
        <p:nvSpPr>
          <p:cNvPr id="31" name="Shape 29"/>
          <p:cNvSpPr/>
          <p:nvPr/>
        </p:nvSpPr>
        <p:spPr>
          <a:xfrm>
            <a:off x="2542032" y="3200400"/>
            <a:ext cx="2011680" cy="1325880"/>
          </a:xfrm>
          <a:prstGeom prst="roundRect">
            <a:avLst>
              <a:gd name="adj" fmla="val 8276"/>
            </a:avLst>
          </a:prstGeom>
          <a:solidFill>
            <a:srgbClr val="161B22"/>
          </a:solidFill>
          <a:ln w="12700">
            <a:solidFill>
              <a:srgbClr val="FBBF24">
                <a:alpha val="60000"/>
              </a:srgbClr>
            </a:solidFill>
            <a:prstDash val="solid"/>
          </a:ln>
          <a:effectLst>
            <a:outerShdw blurRad="101600" dist="38100" dir="2700000" algn="bl" rotWithShape="0">
              <a:srgbClr val="000000">
                <a:alpha val="18000"/>
              </a:srgbClr>
            </a:outerShdw>
          </a:effectLst>
        </p:spPr>
      </p:sp>
      <p:sp>
        <p:nvSpPr>
          <p:cNvPr id="32" name="Shape 30"/>
          <p:cNvSpPr/>
          <p:nvPr/>
        </p:nvSpPr>
        <p:spPr>
          <a:xfrm>
            <a:off x="2651760" y="3310128"/>
            <a:ext cx="365760" cy="365760"/>
          </a:xfrm>
          <a:prstGeom prst="ellipse">
            <a:avLst/>
          </a:prstGeom>
          <a:solidFill>
            <a:srgbClr val="FBBF24"/>
          </a:solidFill>
          <a:ln w="12700">
            <a:solidFill>
              <a:srgbClr val="FBBF24"/>
            </a:solidFill>
            <a:prstDash val="solid"/>
          </a:ln>
        </p:spPr>
      </p:sp>
      <p:sp>
        <p:nvSpPr>
          <p:cNvPr id="33" name="Text 31"/>
          <p:cNvSpPr/>
          <p:nvPr/>
        </p:nvSpPr>
        <p:spPr>
          <a:xfrm>
            <a:off x="2651760" y="3310128"/>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34" name="Text 32"/>
          <p:cNvSpPr/>
          <p:nvPr/>
        </p:nvSpPr>
        <p:spPr>
          <a:xfrm>
            <a:off x="3090672" y="3291840"/>
            <a:ext cx="1371600" cy="384048"/>
          </a:xfrm>
          <a:prstGeom prst="rect">
            <a:avLst/>
          </a:prstGeom>
          <a:noFill/>
          <a:ln/>
        </p:spPr>
        <p:txBody>
          <a:bodyPr wrap="square"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Dark Mode</a:t>
            </a:r>
            <a:endParaRPr lang="en-US" sz="1200" dirty="0"/>
          </a:p>
        </p:txBody>
      </p:sp>
      <p:sp>
        <p:nvSpPr>
          <p:cNvPr id="35" name="Text 33"/>
          <p:cNvSpPr/>
          <p:nvPr/>
        </p:nvSpPr>
        <p:spPr>
          <a:xfrm>
            <a:off x="2651760" y="3767328"/>
            <a:ext cx="1828800" cy="64008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Bascule thème + localStorage</a:t>
            </a:r>
            <a:endParaRPr lang="en-US" sz="1000" dirty="0"/>
          </a:p>
        </p:txBody>
      </p:sp>
      <p:sp>
        <p:nvSpPr>
          <p:cNvPr id="36" name="Shape 34"/>
          <p:cNvSpPr/>
          <p:nvPr/>
        </p:nvSpPr>
        <p:spPr>
          <a:xfrm>
            <a:off x="4718304" y="3200400"/>
            <a:ext cx="2011680" cy="1325880"/>
          </a:xfrm>
          <a:prstGeom prst="roundRect">
            <a:avLst>
              <a:gd name="adj" fmla="val 8276"/>
            </a:avLst>
          </a:prstGeom>
          <a:solidFill>
            <a:srgbClr val="161B22"/>
          </a:solidFill>
          <a:ln w="12700">
            <a:solidFill>
              <a:srgbClr val="EF4444">
                <a:alpha val="60000"/>
              </a:srgbClr>
            </a:solidFill>
            <a:prstDash val="solid"/>
          </a:ln>
          <a:effectLst>
            <a:outerShdw blurRad="101600" dist="38100" dir="2700000" algn="bl" rotWithShape="0">
              <a:srgbClr val="000000">
                <a:alpha val="18000"/>
              </a:srgbClr>
            </a:outerShdw>
          </a:effectLst>
        </p:spPr>
      </p:sp>
      <p:sp>
        <p:nvSpPr>
          <p:cNvPr id="37" name="Shape 35"/>
          <p:cNvSpPr/>
          <p:nvPr/>
        </p:nvSpPr>
        <p:spPr>
          <a:xfrm>
            <a:off x="4828032" y="3310128"/>
            <a:ext cx="365760" cy="365760"/>
          </a:xfrm>
          <a:prstGeom prst="ellipse">
            <a:avLst/>
          </a:prstGeom>
          <a:solidFill>
            <a:srgbClr val="EF4444"/>
          </a:solidFill>
          <a:ln w="12700">
            <a:solidFill>
              <a:srgbClr val="EF4444"/>
            </a:solidFill>
            <a:prstDash val="solid"/>
          </a:ln>
        </p:spPr>
      </p:sp>
      <p:sp>
        <p:nvSpPr>
          <p:cNvPr id="38" name="Text 36"/>
          <p:cNvSpPr/>
          <p:nvPr/>
        </p:nvSpPr>
        <p:spPr>
          <a:xfrm>
            <a:off x="4828032" y="3310128"/>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39" name="Text 37"/>
          <p:cNvSpPr/>
          <p:nvPr/>
        </p:nvSpPr>
        <p:spPr>
          <a:xfrm>
            <a:off x="5266944" y="3291840"/>
            <a:ext cx="1371600" cy="384048"/>
          </a:xfrm>
          <a:prstGeom prst="rect">
            <a:avLst/>
          </a:prstGeom>
          <a:noFill/>
          <a:ln/>
        </p:spPr>
        <p:txBody>
          <a:bodyPr wrap="square"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Animations</a:t>
            </a:r>
            <a:endParaRPr lang="en-US" sz="1200" dirty="0"/>
          </a:p>
        </p:txBody>
      </p:sp>
      <p:sp>
        <p:nvSpPr>
          <p:cNvPr id="40" name="Text 38"/>
          <p:cNvSpPr/>
          <p:nvPr/>
        </p:nvSpPr>
        <p:spPr>
          <a:xfrm>
            <a:off x="4828032" y="3767328"/>
            <a:ext cx="1828800" cy="64008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IntersectionObserver, fade-in au scroll</a:t>
            </a:r>
            <a:endParaRPr lang="en-US" sz="1000" dirty="0"/>
          </a:p>
        </p:txBody>
      </p:sp>
      <p:sp>
        <p:nvSpPr>
          <p:cNvPr id="41" name="Shape 39"/>
          <p:cNvSpPr/>
          <p:nvPr/>
        </p:nvSpPr>
        <p:spPr>
          <a:xfrm>
            <a:off x="6894576" y="3200400"/>
            <a:ext cx="2011680" cy="1325880"/>
          </a:xfrm>
          <a:prstGeom prst="roundRect">
            <a:avLst>
              <a:gd name="adj" fmla="val 8276"/>
            </a:avLst>
          </a:prstGeom>
          <a:solidFill>
            <a:srgbClr val="161B22"/>
          </a:solidFill>
          <a:ln w="12700">
            <a:solidFill>
              <a:srgbClr val="BE185D">
                <a:alpha val="60000"/>
              </a:srgbClr>
            </a:solidFill>
            <a:prstDash val="solid"/>
          </a:ln>
          <a:effectLst>
            <a:outerShdw blurRad="101600" dist="38100" dir="2700000" algn="bl" rotWithShape="0">
              <a:srgbClr val="000000">
                <a:alpha val="18000"/>
              </a:srgbClr>
            </a:outerShdw>
          </a:effectLst>
        </p:spPr>
      </p:sp>
      <p:sp>
        <p:nvSpPr>
          <p:cNvPr id="42" name="Shape 40"/>
          <p:cNvSpPr/>
          <p:nvPr/>
        </p:nvSpPr>
        <p:spPr>
          <a:xfrm>
            <a:off x="7004304" y="3310128"/>
            <a:ext cx="365760" cy="365760"/>
          </a:xfrm>
          <a:prstGeom prst="ellipse">
            <a:avLst/>
          </a:prstGeom>
          <a:solidFill>
            <a:srgbClr val="BE185D"/>
          </a:solidFill>
          <a:ln w="12700">
            <a:solidFill>
              <a:srgbClr val="BE185D"/>
            </a:solidFill>
            <a:prstDash val="solid"/>
          </a:ln>
        </p:spPr>
      </p:sp>
      <p:sp>
        <p:nvSpPr>
          <p:cNvPr id="43" name="Text 41"/>
          <p:cNvSpPr/>
          <p:nvPr/>
        </p:nvSpPr>
        <p:spPr>
          <a:xfrm>
            <a:off x="7004304" y="3310128"/>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44" name="Text 42"/>
          <p:cNvSpPr/>
          <p:nvPr/>
        </p:nvSpPr>
        <p:spPr>
          <a:xfrm>
            <a:off x="7443216" y="3291840"/>
            <a:ext cx="1371600" cy="384048"/>
          </a:xfrm>
          <a:prstGeom prst="rect">
            <a:avLst/>
          </a:prstGeom>
          <a:noFill/>
          <a:ln/>
        </p:spPr>
        <p:txBody>
          <a:bodyPr wrap="square"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Filtrage JS</a:t>
            </a:r>
            <a:endParaRPr lang="en-US" sz="1200" dirty="0"/>
          </a:p>
        </p:txBody>
      </p:sp>
      <p:sp>
        <p:nvSpPr>
          <p:cNvPr id="45" name="Text 43"/>
          <p:cNvSpPr/>
          <p:nvPr/>
        </p:nvSpPr>
        <p:spPr>
          <a:xfrm>
            <a:off x="7004304" y="3767328"/>
            <a:ext cx="1828800" cy="64008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Filtres catégories, formulaire contact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D28D9"/>
          </a:solidFill>
          <a:ln w="12700">
            <a:solidFill>
              <a:srgbClr val="6D28D9"/>
            </a:solidFill>
            <a:prstDash val="solid"/>
          </a:ln>
        </p:spPr>
      </p:sp>
      <p:sp>
        <p:nvSpPr>
          <p:cNvPr id="3" name="Text 1"/>
          <p:cNvSpPr/>
          <p:nvPr/>
        </p:nvSpPr>
        <p:spPr>
          <a:xfrm>
            <a:off x="274320" y="0"/>
            <a:ext cx="8595360" cy="10058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  Responsive Design &amp; 🌙 Dark Mode</a:t>
            </a:r>
            <a:endParaRPr lang="en-US" sz="2600" dirty="0"/>
          </a:p>
        </p:txBody>
      </p:sp>
      <p:sp>
        <p:nvSpPr>
          <p:cNvPr id="4" name="Shape 2"/>
          <p:cNvSpPr/>
          <p:nvPr/>
        </p:nvSpPr>
        <p:spPr>
          <a:xfrm>
            <a:off x="274320" y="1143000"/>
            <a:ext cx="4114800" cy="3566160"/>
          </a:xfrm>
          <a:prstGeom prst="roundRect">
            <a:avLst>
              <a:gd name="adj" fmla="val 3846"/>
            </a:avLst>
          </a:prstGeom>
          <a:solidFill>
            <a:srgbClr val="EDE9FE"/>
          </a:solidFill>
          <a:ln w="12700">
            <a:solidFill>
              <a:srgbClr val="7C3AED">
                <a:alpha val="50000"/>
              </a:srgbClr>
            </a:solidFill>
            <a:prstDash val="solid"/>
          </a:ln>
        </p:spPr>
      </p:sp>
      <p:sp>
        <p:nvSpPr>
          <p:cNvPr id="5" name="Text 3"/>
          <p:cNvSpPr/>
          <p:nvPr/>
        </p:nvSpPr>
        <p:spPr>
          <a:xfrm>
            <a:off x="457200" y="1280160"/>
            <a:ext cx="3749040" cy="457200"/>
          </a:xfrm>
          <a:prstGeom prst="rect">
            <a:avLst/>
          </a:prstGeom>
          <a:noFill/>
          <a:ln/>
        </p:spPr>
        <p:txBody>
          <a:bodyPr wrap="square" rtlCol="0" anchor="ctr"/>
          <a:lstStyle/>
          <a:p>
            <a:pPr marL="0" indent="0">
              <a:buNone/>
            </a:pPr>
            <a:r>
              <a:rPr lang="en-US" sz="1600" b="1" dirty="0">
                <a:solidFill>
                  <a:srgbClr val="7C3AED"/>
                </a:solidFill>
                <a:latin typeface="Cambria" pitchFamily="34" charset="0"/>
                <a:ea typeface="Cambria" pitchFamily="34" charset="-122"/>
                <a:cs typeface="Cambria" pitchFamily="34" charset="-120"/>
              </a:rPr>
              <a:t>📱  Responsive Design</a:t>
            </a:r>
            <a:endParaRPr lang="en-US" sz="1600" dirty="0"/>
          </a:p>
        </p:txBody>
      </p:sp>
      <p:sp>
        <p:nvSpPr>
          <p:cNvPr id="6" name="Shape 4"/>
          <p:cNvSpPr/>
          <p:nvPr/>
        </p:nvSpPr>
        <p:spPr>
          <a:xfrm>
            <a:off x="457200" y="1874520"/>
            <a:ext cx="3749040" cy="777240"/>
          </a:xfrm>
          <a:prstGeom prst="roundRect">
            <a:avLst>
              <a:gd name="adj" fmla="val 11765"/>
            </a:avLst>
          </a:prstGeom>
          <a:solidFill>
            <a:srgbClr val="FFFFFF"/>
          </a:solidFill>
          <a:ln w="12700">
            <a:solidFill>
              <a:srgbClr val="7C3AED">
                <a:alpha val="30000"/>
              </a:srgbClr>
            </a:solidFill>
            <a:prstDash val="solid"/>
          </a:ln>
        </p:spPr>
      </p:sp>
      <p:sp>
        <p:nvSpPr>
          <p:cNvPr id="7" name="Text 5"/>
          <p:cNvSpPr/>
          <p:nvPr/>
        </p:nvSpPr>
        <p:spPr>
          <a:xfrm>
            <a:off x="594360" y="1920240"/>
            <a:ext cx="914400" cy="347472"/>
          </a:xfrm>
          <a:prstGeom prst="rect">
            <a:avLst/>
          </a:prstGeom>
          <a:noFill/>
          <a:ln/>
        </p:spPr>
        <p:txBody>
          <a:bodyPr wrap="square" rtlCol="0" anchor="ctr"/>
          <a:lstStyle/>
          <a:p>
            <a:pPr marL="0" indent="0" algn="ctr">
              <a:buNone/>
            </a:pPr>
            <a:r>
              <a:rPr lang="en-US" sz="1600" dirty="0">
                <a:solidFill>
                  <a:srgbClr val="000000"/>
                </a:solidFill>
              </a:rPr>
              <a:t>📱 Mobile</a:t>
            </a:r>
            <a:endParaRPr lang="en-US" sz="1600" dirty="0"/>
          </a:p>
        </p:txBody>
      </p:sp>
      <p:sp>
        <p:nvSpPr>
          <p:cNvPr id="8" name="Text 6"/>
          <p:cNvSpPr/>
          <p:nvPr/>
        </p:nvSpPr>
        <p:spPr>
          <a:xfrm>
            <a:off x="1554480" y="1901952"/>
            <a:ext cx="1097280" cy="347472"/>
          </a:xfrm>
          <a:prstGeom prst="rect">
            <a:avLst/>
          </a:prstGeom>
          <a:noFill/>
          <a:ln/>
        </p:spPr>
        <p:txBody>
          <a:bodyPr wrap="square"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&lt; 576px</a:t>
            </a:r>
            <a:endParaRPr lang="en-US" sz="1100" dirty="0"/>
          </a:p>
        </p:txBody>
      </p:sp>
      <p:sp>
        <p:nvSpPr>
          <p:cNvPr id="9" name="Text 7"/>
          <p:cNvSpPr/>
          <p:nvPr/>
        </p:nvSpPr>
        <p:spPr>
          <a:xfrm>
            <a:off x="594360" y="2286000"/>
            <a:ext cx="3657600" cy="30175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Menu hamburger, 1 colonne</a:t>
            </a:r>
            <a:endParaRPr lang="en-US" sz="1100" dirty="0"/>
          </a:p>
        </p:txBody>
      </p:sp>
      <p:sp>
        <p:nvSpPr>
          <p:cNvPr id="10" name="Shape 8"/>
          <p:cNvSpPr/>
          <p:nvPr/>
        </p:nvSpPr>
        <p:spPr>
          <a:xfrm>
            <a:off x="457200" y="2788920"/>
            <a:ext cx="3749040" cy="777240"/>
          </a:xfrm>
          <a:prstGeom prst="roundRect">
            <a:avLst>
              <a:gd name="adj" fmla="val 11765"/>
            </a:avLst>
          </a:prstGeom>
          <a:solidFill>
            <a:srgbClr val="FFFFFF"/>
          </a:solidFill>
          <a:ln w="12700">
            <a:solidFill>
              <a:srgbClr val="7C3AED">
                <a:alpha val="30000"/>
              </a:srgbClr>
            </a:solidFill>
            <a:prstDash val="solid"/>
          </a:ln>
        </p:spPr>
      </p:sp>
      <p:sp>
        <p:nvSpPr>
          <p:cNvPr id="11" name="Text 9"/>
          <p:cNvSpPr/>
          <p:nvPr/>
        </p:nvSpPr>
        <p:spPr>
          <a:xfrm>
            <a:off x="594360" y="2834640"/>
            <a:ext cx="914400" cy="347472"/>
          </a:xfrm>
          <a:prstGeom prst="rect">
            <a:avLst/>
          </a:prstGeom>
          <a:noFill/>
          <a:ln/>
        </p:spPr>
        <p:txBody>
          <a:bodyPr wrap="square" rtlCol="0" anchor="ctr"/>
          <a:lstStyle/>
          <a:p>
            <a:pPr marL="0" indent="0" algn="ctr">
              <a:buNone/>
            </a:pPr>
            <a:r>
              <a:rPr lang="en-US" sz="1600" dirty="0">
                <a:solidFill>
                  <a:srgbClr val="000000"/>
                </a:solidFill>
              </a:rPr>
              <a:t>📟 Tablette</a:t>
            </a:r>
            <a:endParaRPr lang="en-US" sz="1600" dirty="0"/>
          </a:p>
        </p:txBody>
      </p:sp>
      <p:sp>
        <p:nvSpPr>
          <p:cNvPr id="12" name="Text 10"/>
          <p:cNvSpPr/>
          <p:nvPr/>
        </p:nvSpPr>
        <p:spPr>
          <a:xfrm>
            <a:off x="1554480" y="2816352"/>
            <a:ext cx="1097280" cy="347472"/>
          </a:xfrm>
          <a:prstGeom prst="rect">
            <a:avLst/>
          </a:prstGeom>
          <a:noFill/>
          <a:ln/>
        </p:spPr>
        <p:txBody>
          <a:bodyPr wrap="square"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576–992px</a:t>
            </a:r>
            <a:endParaRPr lang="en-US" sz="1100" dirty="0"/>
          </a:p>
        </p:txBody>
      </p:sp>
      <p:sp>
        <p:nvSpPr>
          <p:cNvPr id="13" name="Text 11"/>
          <p:cNvSpPr/>
          <p:nvPr/>
        </p:nvSpPr>
        <p:spPr>
          <a:xfrm>
            <a:off x="594360" y="3200400"/>
            <a:ext cx="3657600" cy="30175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2 colonnes, navigation compacte</a:t>
            </a:r>
            <a:endParaRPr lang="en-US" sz="1100" dirty="0"/>
          </a:p>
        </p:txBody>
      </p:sp>
      <p:sp>
        <p:nvSpPr>
          <p:cNvPr id="14" name="Shape 12"/>
          <p:cNvSpPr/>
          <p:nvPr/>
        </p:nvSpPr>
        <p:spPr>
          <a:xfrm>
            <a:off x="457200" y="3703320"/>
            <a:ext cx="3749040" cy="777240"/>
          </a:xfrm>
          <a:prstGeom prst="roundRect">
            <a:avLst>
              <a:gd name="adj" fmla="val 11765"/>
            </a:avLst>
          </a:prstGeom>
          <a:solidFill>
            <a:srgbClr val="FFFFFF"/>
          </a:solidFill>
          <a:ln w="12700">
            <a:solidFill>
              <a:srgbClr val="7C3AED">
                <a:alpha val="30000"/>
              </a:srgbClr>
            </a:solidFill>
            <a:prstDash val="solid"/>
          </a:ln>
        </p:spPr>
      </p:sp>
      <p:sp>
        <p:nvSpPr>
          <p:cNvPr id="15" name="Text 13"/>
          <p:cNvSpPr/>
          <p:nvPr/>
        </p:nvSpPr>
        <p:spPr>
          <a:xfrm>
            <a:off x="594360" y="3749040"/>
            <a:ext cx="914400" cy="347472"/>
          </a:xfrm>
          <a:prstGeom prst="rect">
            <a:avLst/>
          </a:prstGeom>
          <a:noFill/>
          <a:ln/>
        </p:spPr>
        <p:txBody>
          <a:bodyPr wrap="square" rtlCol="0" anchor="ctr"/>
          <a:lstStyle/>
          <a:p>
            <a:pPr marL="0" indent="0" algn="ctr">
              <a:buNone/>
            </a:pPr>
            <a:r>
              <a:rPr lang="en-US" sz="1600" dirty="0">
                <a:solidFill>
                  <a:srgbClr val="000000"/>
                </a:solidFill>
              </a:rPr>
              <a:t>💻 Desktop</a:t>
            </a:r>
            <a:endParaRPr lang="en-US" sz="1600" dirty="0"/>
          </a:p>
        </p:txBody>
      </p:sp>
      <p:sp>
        <p:nvSpPr>
          <p:cNvPr id="16" name="Text 14"/>
          <p:cNvSpPr/>
          <p:nvPr/>
        </p:nvSpPr>
        <p:spPr>
          <a:xfrm>
            <a:off x="1554480" y="3730752"/>
            <a:ext cx="1097280" cy="347472"/>
          </a:xfrm>
          <a:prstGeom prst="rect">
            <a:avLst/>
          </a:prstGeom>
          <a:noFill/>
          <a:ln/>
        </p:spPr>
        <p:txBody>
          <a:bodyPr wrap="square"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&gt; 992px</a:t>
            </a:r>
            <a:endParaRPr lang="en-US" sz="1100" dirty="0"/>
          </a:p>
        </p:txBody>
      </p:sp>
      <p:sp>
        <p:nvSpPr>
          <p:cNvPr id="17" name="Text 15"/>
          <p:cNvSpPr/>
          <p:nvPr/>
        </p:nvSpPr>
        <p:spPr>
          <a:xfrm>
            <a:off x="594360" y="4114800"/>
            <a:ext cx="3657600" cy="30175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Grille complète, effets hover</a:t>
            </a:r>
            <a:endParaRPr lang="en-US" sz="1100" dirty="0"/>
          </a:p>
        </p:txBody>
      </p:sp>
      <p:sp>
        <p:nvSpPr>
          <p:cNvPr id="18" name="Shape 16"/>
          <p:cNvSpPr/>
          <p:nvPr/>
        </p:nvSpPr>
        <p:spPr>
          <a:xfrm>
            <a:off x="4754880" y="1143000"/>
            <a:ext cx="4114800" cy="3566160"/>
          </a:xfrm>
          <a:prstGeom prst="roundRect">
            <a:avLst>
              <a:gd name="adj" fmla="val 3846"/>
            </a:avLst>
          </a:prstGeom>
          <a:solidFill>
            <a:srgbClr val="1E1B4B"/>
          </a:solidFill>
          <a:ln w="12700">
            <a:solidFill>
              <a:srgbClr val="FBBF24">
                <a:alpha val="50000"/>
              </a:srgbClr>
            </a:solidFill>
            <a:prstDash val="solid"/>
          </a:ln>
        </p:spPr>
      </p:sp>
      <p:sp>
        <p:nvSpPr>
          <p:cNvPr id="19" name="Text 17"/>
          <p:cNvSpPr/>
          <p:nvPr/>
        </p:nvSpPr>
        <p:spPr>
          <a:xfrm>
            <a:off x="4937760" y="1280160"/>
            <a:ext cx="3749040" cy="457200"/>
          </a:xfrm>
          <a:prstGeom prst="rect">
            <a:avLst/>
          </a:prstGeom>
          <a:noFill/>
          <a:ln/>
        </p:spPr>
        <p:txBody>
          <a:bodyPr wrap="square" rtlCol="0" anchor="ctr"/>
          <a:lstStyle/>
          <a:p>
            <a:pPr marL="0" indent="0">
              <a:buNone/>
            </a:pPr>
            <a:r>
              <a:rPr lang="en-US" sz="1600" b="1" dirty="0">
                <a:solidFill>
                  <a:srgbClr val="FBBF24"/>
                </a:solidFill>
                <a:latin typeface="Cambria" pitchFamily="34" charset="0"/>
                <a:ea typeface="Cambria" pitchFamily="34" charset="-122"/>
                <a:cs typeface="Cambria" pitchFamily="34" charset="-120"/>
              </a:rPr>
              <a:t>🌙  Dark Mode</a:t>
            </a:r>
            <a:endParaRPr lang="en-US" sz="1600" dirty="0"/>
          </a:p>
        </p:txBody>
      </p:sp>
      <p:sp>
        <p:nvSpPr>
          <p:cNvPr id="20" name="Shape 18"/>
          <p:cNvSpPr/>
          <p:nvPr/>
        </p:nvSpPr>
        <p:spPr>
          <a:xfrm>
            <a:off x="4937760" y="1965960"/>
            <a:ext cx="292608" cy="292608"/>
          </a:xfrm>
          <a:prstGeom prst="ellipse">
            <a:avLst/>
          </a:prstGeom>
          <a:solidFill>
            <a:srgbClr val="FBBF24">
              <a:alpha val="70000"/>
            </a:srgbClr>
          </a:solidFill>
          <a:ln w="12700">
            <a:solidFill>
              <a:srgbClr val="FBBF24"/>
            </a:solidFill>
            <a:prstDash val="solid"/>
          </a:ln>
        </p:spPr>
      </p:sp>
      <p:sp>
        <p:nvSpPr>
          <p:cNvPr id="21" name="Text 19"/>
          <p:cNvSpPr/>
          <p:nvPr/>
        </p:nvSpPr>
        <p:spPr>
          <a:xfrm>
            <a:off x="4937760" y="1920240"/>
            <a:ext cx="292608" cy="347472"/>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2" name="Text 20"/>
          <p:cNvSpPr/>
          <p:nvPr/>
        </p:nvSpPr>
        <p:spPr>
          <a:xfrm>
            <a:off x="5303520" y="1874520"/>
            <a:ext cx="3383280" cy="45720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Bouton toggle ☀️/🌙 dans la navbar</a:t>
            </a:r>
            <a:endParaRPr lang="en-US" sz="1200" dirty="0"/>
          </a:p>
        </p:txBody>
      </p:sp>
      <p:sp>
        <p:nvSpPr>
          <p:cNvPr id="23" name="Shape 21"/>
          <p:cNvSpPr/>
          <p:nvPr/>
        </p:nvSpPr>
        <p:spPr>
          <a:xfrm>
            <a:off x="4937760" y="2606040"/>
            <a:ext cx="292608" cy="292608"/>
          </a:xfrm>
          <a:prstGeom prst="ellipse">
            <a:avLst/>
          </a:prstGeom>
          <a:solidFill>
            <a:srgbClr val="FBBF24">
              <a:alpha val="70000"/>
            </a:srgbClr>
          </a:solidFill>
          <a:ln w="12700">
            <a:solidFill>
              <a:srgbClr val="FBBF24"/>
            </a:solidFill>
            <a:prstDash val="solid"/>
          </a:ln>
        </p:spPr>
      </p:sp>
      <p:sp>
        <p:nvSpPr>
          <p:cNvPr id="24" name="Text 22"/>
          <p:cNvSpPr/>
          <p:nvPr/>
        </p:nvSpPr>
        <p:spPr>
          <a:xfrm>
            <a:off x="4937760" y="2560320"/>
            <a:ext cx="292608" cy="347472"/>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5" name="Text 23"/>
          <p:cNvSpPr/>
          <p:nvPr/>
        </p:nvSpPr>
        <p:spPr>
          <a:xfrm>
            <a:off x="5303520" y="2514600"/>
            <a:ext cx="3383280" cy="45720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localStorage garde le choix</a:t>
            </a:r>
            <a:endParaRPr lang="en-US" sz="1200" dirty="0"/>
          </a:p>
        </p:txBody>
      </p:sp>
      <p:sp>
        <p:nvSpPr>
          <p:cNvPr id="26" name="Shape 24"/>
          <p:cNvSpPr/>
          <p:nvPr/>
        </p:nvSpPr>
        <p:spPr>
          <a:xfrm>
            <a:off x="4937760" y="3246120"/>
            <a:ext cx="292608" cy="292608"/>
          </a:xfrm>
          <a:prstGeom prst="ellipse">
            <a:avLst/>
          </a:prstGeom>
          <a:solidFill>
            <a:srgbClr val="FBBF24">
              <a:alpha val="70000"/>
            </a:srgbClr>
          </a:solidFill>
          <a:ln w="12700">
            <a:solidFill>
              <a:srgbClr val="FBBF24"/>
            </a:solidFill>
            <a:prstDash val="solid"/>
          </a:ln>
        </p:spPr>
      </p:sp>
      <p:sp>
        <p:nvSpPr>
          <p:cNvPr id="27" name="Text 25"/>
          <p:cNvSpPr/>
          <p:nvPr/>
        </p:nvSpPr>
        <p:spPr>
          <a:xfrm>
            <a:off x="4937760" y="3200400"/>
            <a:ext cx="292608" cy="347472"/>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8" name="Text 26"/>
          <p:cNvSpPr/>
          <p:nvPr/>
        </p:nvSpPr>
        <p:spPr>
          <a:xfrm>
            <a:off x="5303520" y="3154680"/>
            <a:ext cx="3383280" cy="45720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CSS [data-theme='dark'] pour tous styles</a:t>
            </a:r>
            <a:endParaRPr lang="en-US" sz="1200" dirty="0"/>
          </a:p>
        </p:txBody>
      </p:sp>
      <p:sp>
        <p:nvSpPr>
          <p:cNvPr id="29" name="Shape 27"/>
          <p:cNvSpPr/>
          <p:nvPr/>
        </p:nvSpPr>
        <p:spPr>
          <a:xfrm>
            <a:off x="4937760" y="3886200"/>
            <a:ext cx="292608" cy="292608"/>
          </a:xfrm>
          <a:prstGeom prst="ellipse">
            <a:avLst/>
          </a:prstGeom>
          <a:solidFill>
            <a:srgbClr val="FBBF24">
              <a:alpha val="70000"/>
            </a:srgbClr>
          </a:solidFill>
          <a:ln w="12700">
            <a:solidFill>
              <a:srgbClr val="FBBF24"/>
            </a:solidFill>
            <a:prstDash val="solid"/>
          </a:ln>
        </p:spPr>
      </p:sp>
      <p:sp>
        <p:nvSpPr>
          <p:cNvPr id="30" name="Text 28"/>
          <p:cNvSpPr/>
          <p:nvPr/>
        </p:nvSpPr>
        <p:spPr>
          <a:xfrm>
            <a:off x="4937760" y="3840480"/>
            <a:ext cx="292608" cy="347472"/>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31" name="Text 29"/>
          <p:cNvSpPr/>
          <p:nvPr/>
        </p:nvSpPr>
        <p:spPr>
          <a:xfrm>
            <a:off x="5303520" y="3794760"/>
            <a:ext cx="3383280" cy="45720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Couleurs adaptées pour le confort</a:t>
            </a:r>
            <a:endParaRPr lang="en-US" sz="1200" dirty="0"/>
          </a:p>
        </p:txBody>
      </p:sp>
      <p:sp>
        <p:nvSpPr>
          <p:cNvPr id="32" name="Shape 30"/>
          <p:cNvSpPr/>
          <p:nvPr/>
        </p:nvSpPr>
        <p:spPr>
          <a:xfrm>
            <a:off x="4937760" y="4526280"/>
            <a:ext cx="292608" cy="292608"/>
          </a:xfrm>
          <a:prstGeom prst="ellipse">
            <a:avLst/>
          </a:prstGeom>
          <a:solidFill>
            <a:srgbClr val="FBBF24">
              <a:alpha val="70000"/>
            </a:srgbClr>
          </a:solidFill>
          <a:ln w="12700">
            <a:solidFill>
              <a:srgbClr val="FBBF24"/>
            </a:solidFill>
            <a:prstDash val="solid"/>
          </a:ln>
        </p:spPr>
      </p:sp>
      <p:sp>
        <p:nvSpPr>
          <p:cNvPr id="33" name="Text 31"/>
          <p:cNvSpPr/>
          <p:nvPr/>
        </p:nvSpPr>
        <p:spPr>
          <a:xfrm>
            <a:off x="4937760" y="4480560"/>
            <a:ext cx="292608" cy="347472"/>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34" name="Text 32"/>
          <p:cNvSpPr/>
          <p:nvPr/>
        </p:nvSpPr>
        <p:spPr>
          <a:xfrm>
            <a:off x="5303520" y="4434840"/>
            <a:ext cx="3383280" cy="45720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Changement instantané, sans rechargement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59E0B"/>
          </a:solidFill>
          <a:ln w="12700">
            <a:solidFill>
              <a:srgbClr val="F59E0B"/>
            </a:solidFill>
            <a:prstDash val="solid"/>
          </a:ln>
        </p:spPr>
      </p:sp>
      <p:sp>
        <p:nvSpPr>
          <p:cNvPr id="3" name="Text 1"/>
          <p:cNvSpPr/>
          <p:nvPr/>
        </p:nvSpPr>
        <p:spPr>
          <a:xfrm>
            <a:off x="274320" y="0"/>
            <a:ext cx="8229600" cy="1005840"/>
          </a:xfrm>
          <a:prstGeom prst="rect">
            <a:avLst/>
          </a:prstGeom>
          <a:noFill/>
          <a:ln/>
        </p:spPr>
        <p:txBody>
          <a:bodyPr wrap="square" rtlCol="0" anchor="ctr"/>
          <a:lstStyle/>
          <a:p>
            <a:pPr marL="0" indent="0">
              <a:buNone/>
            </a:pPr>
            <a:r>
              <a:rPr lang="en-US" sz="2800" b="1" dirty="0">
                <a:solidFill>
                  <a:srgbClr val="1E293B"/>
                </a:solidFill>
                <a:latin typeface="Cambria" pitchFamily="34" charset="0"/>
                <a:ea typeface="Cambria" pitchFamily="34" charset="-122"/>
                <a:cs typeface="Cambria" pitchFamily="34" charset="-120"/>
              </a:rPr>
              <a:t>✨  Animations JavaScript</a:t>
            </a:r>
            <a:endParaRPr lang="en-US" sz="2800" dirty="0"/>
          </a:p>
        </p:txBody>
      </p:sp>
      <p:sp>
        <p:nvSpPr>
          <p:cNvPr id="4" name="Shape 2"/>
          <p:cNvSpPr/>
          <p:nvPr/>
        </p:nvSpPr>
        <p:spPr>
          <a:xfrm>
            <a:off x="274320" y="1143000"/>
            <a:ext cx="2743200" cy="1737360"/>
          </a:xfrm>
          <a:prstGeom prst="roundRect">
            <a:avLst>
              <a:gd name="adj" fmla="val 7368"/>
            </a:avLst>
          </a:prstGeom>
          <a:solidFill>
            <a:srgbClr val="FFFFFF"/>
          </a:solidFill>
          <a:ln w="12700">
            <a:solidFill>
              <a:srgbClr val="F97316">
                <a:alpha val="50000"/>
              </a:srgbClr>
            </a:solidFill>
            <a:prstDash val="solid"/>
          </a:ln>
          <a:effectLst>
            <a:outerShdw blurRad="101600" dist="38100" dir="2700000" algn="bl" rotWithShape="0">
              <a:srgbClr val="000000">
                <a:alpha val="18000"/>
              </a:srgbClr>
            </a:outerShdw>
          </a:effectLst>
        </p:spPr>
      </p:sp>
      <p:sp>
        <p:nvSpPr>
          <p:cNvPr id="5" name="Text 3"/>
          <p:cNvSpPr/>
          <p:nvPr/>
        </p:nvSpPr>
        <p:spPr>
          <a:xfrm>
            <a:off x="411480" y="1280160"/>
            <a:ext cx="502920" cy="5029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6" name="Text 4"/>
          <p:cNvSpPr/>
          <p:nvPr/>
        </p:nvSpPr>
        <p:spPr>
          <a:xfrm>
            <a:off x="960120" y="1280160"/>
            <a:ext cx="1920240" cy="457200"/>
          </a:xfrm>
          <a:prstGeom prst="rect">
            <a:avLst/>
          </a:prstGeom>
          <a:noFill/>
          <a:ln/>
        </p:spPr>
        <p:txBody>
          <a:bodyPr wrap="square" rtlCol="0" anchor="ctr"/>
          <a:lstStyle/>
          <a:p>
            <a:pPr marL="0" indent="0">
              <a:buNone/>
            </a:pPr>
            <a:r>
              <a:rPr lang="en-US" sz="1300" b="1" dirty="0">
                <a:solidFill>
                  <a:srgbClr val="F97316"/>
                </a:solidFill>
                <a:latin typeface="Cambria" pitchFamily="34" charset="0"/>
                <a:ea typeface="Cambria" pitchFamily="34" charset="-122"/>
                <a:cs typeface="Cambria" pitchFamily="34" charset="-120"/>
              </a:rPr>
              <a:t>Fade-in au scroll</a:t>
            </a:r>
            <a:endParaRPr lang="en-US" sz="1300" dirty="0"/>
          </a:p>
        </p:txBody>
      </p:sp>
      <p:sp>
        <p:nvSpPr>
          <p:cNvPr id="7" name="Text 5"/>
          <p:cNvSpPr/>
          <p:nvPr/>
        </p:nvSpPr>
        <p:spPr>
          <a:xfrm>
            <a:off x="411480" y="1828800"/>
            <a:ext cx="2514600" cy="9144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IntersectionObserver détecte les éléments entrants dans le viewport et ajoute une classe CSS d'animation</a:t>
            </a:r>
            <a:endParaRPr lang="en-US" sz="1050" dirty="0"/>
          </a:p>
        </p:txBody>
      </p:sp>
      <p:sp>
        <p:nvSpPr>
          <p:cNvPr id="8" name="Shape 6"/>
          <p:cNvSpPr/>
          <p:nvPr/>
        </p:nvSpPr>
        <p:spPr>
          <a:xfrm>
            <a:off x="3200400" y="1143000"/>
            <a:ext cx="2743200" cy="1737360"/>
          </a:xfrm>
          <a:prstGeom prst="roundRect">
            <a:avLst>
              <a:gd name="adj" fmla="val 7368"/>
            </a:avLst>
          </a:prstGeom>
          <a:solidFill>
            <a:srgbClr val="FFFFFF"/>
          </a:solidFill>
          <a:ln w="12700">
            <a:solidFill>
              <a:srgbClr val="7C3AED">
                <a:alpha val="50000"/>
              </a:srgbClr>
            </a:solidFill>
            <a:prstDash val="solid"/>
          </a:ln>
          <a:effectLst>
            <a:outerShdw blurRad="101600" dist="38100" dir="2700000" algn="bl" rotWithShape="0">
              <a:srgbClr val="000000">
                <a:alpha val="18000"/>
              </a:srgbClr>
            </a:outerShdw>
          </a:effectLst>
        </p:spPr>
      </p:sp>
      <p:sp>
        <p:nvSpPr>
          <p:cNvPr id="9" name="Text 7"/>
          <p:cNvSpPr/>
          <p:nvPr/>
        </p:nvSpPr>
        <p:spPr>
          <a:xfrm>
            <a:off x="3337560" y="1280160"/>
            <a:ext cx="502920" cy="5029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0" name="Text 8"/>
          <p:cNvSpPr/>
          <p:nvPr/>
        </p:nvSpPr>
        <p:spPr>
          <a:xfrm>
            <a:off x="3886200" y="1280160"/>
            <a:ext cx="1920240" cy="457200"/>
          </a:xfrm>
          <a:prstGeom prst="rect">
            <a:avLst/>
          </a:prstGeom>
          <a:noFill/>
          <a:ln/>
        </p:spPr>
        <p:txBody>
          <a:bodyPr wrap="square" rtlCol="0" anchor="ctr"/>
          <a:lstStyle/>
          <a:p>
            <a:pPr marL="0" indent="0">
              <a:buNone/>
            </a:pPr>
            <a:r>
              <a:rPr lang="en-US" sz="1300" b="1" dirty="0">
                <a:solidFill>
                  <a:srgbClr val="7C3AED"/>
                </a:solidFill>
                <a:latin typeface="Cambria" pitchFamily="34" charset="0"/>
                <a:ea typeface="Cambria" pitchFamily="34" charset="-122"/>
                <a:cs typeface="Cambria" pitchFamily="34" charset="-120"/>
              </a:rPr>
              <a:t>Compteurs animés</a:t>
            </a:r>
            <a:endParaRPr lang="en-US" sz="1300" dirty="0"/>
          </a:p>
        </p:txBody>
      </p:sp>
      <p:sp>
        <p:nvSpPr>
          <p:cNvPr id="11" name="Text 9"/>
          <p:cNvSpPr/>
          <p:nvPr/>
        </p:nvSpPr>
        <p:spPr>
          <a:xfrm>
            <a:off x="3337560" y="1828800"/>
            <a:ext cx="2514600" cy="9144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Les chiffres s'incrémentent de 0 à leur valeur finale avec requestAnimationFrame pour fluidité</a:t>
            </a:r>
            <a:endParaRPr lang="en-US" sz="1050" dirty="0"/>
          </a:p>
        </p:txBody>
      </p:sp>
      <p:sp>
        <p:nvSpPr>
          <p:cNvPr id="12" name="Shape 10"/>
          <p:cNvSpPr/>
          <p:nvPr/>
        </p:nvSpPr>
        <p:spPr>
          <a:xfrm>
            <a:off x="6126480" y="1143000"/>
            <a:ext cx="2743200" cy="1737360"/>
          </a:xfrm>
          <a:prstGeom prst="roundRect">
            <a:avLst>
              <a:gd name="adj" fmla="val 7368"/>
            </a:avLst>
          </a:prstGeom>
          <a:solidFill>
            <a:srgbClr val="FFFFFF"/>
          </a:solidFill>
          <a:ln w="12700">
            <a:solidFill>
              <a:srgbClr val="0D9488">
                <a:alpha val="50000"/>
              </a:srgbClr>
            </a:solidFill>
            <a:prstDash val="solid"/>
          </a:ln>
          <a:effectLst>
            <a:outerShdw blurRad="101600" dist="38100" dir="2700000" algn="bl" rotWithShape="0">
              <a:srgbClr val="000000">
                <a:alpha val="18000"/>
              </a:srgbClr>
            </a:outerShdw>
          </a:effectLst>
        </p:spPr>
      </p:sp>
      <p:sp>
        <p:nvSpPr>
          <p:cNvPr id="13" name="Text 11"/>
          <p:cNvSpPr/>
          <p:nvPr/>
        </p:nvSpPr>
        <p:spPr>
          <a:xfrm>
            <a:off x="6263640" y="1280160"/>
            <a:ext cx="502920" cy="5029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6812280" y="1280160"/>
            <a:ext cx="1920240" cy="457200"/>
          </a:xfrm>
          <a:prstGeom prst="rect">
            <a:avLst/>
          </a:prstGeom>
          <a:noFill/>
          <a:ln/>
        </p:spPr>
        <p:txBody>
          <a:bodyPr wrap="square" rtlCol="0" anchor="ctr"/>
          <a:lstStyle/>
          <a:p>
            <a:pPr marL="0" indent="0">
              <a:buNone/>
            </a:pPr>
            <a:r>
              <a:rPr lang="en-US" sz="1300" b="1" dirty="0">
                <a:solidFill>
                  <a:srgbClr val="0D9488"/>
                </a:solidFill>
                <a:latin typeface="Cambria" pitchFamily="34" charset="0"/>
                <a:ea typeface="Cambria" pitchFamily="34" charset="-122"/>
                <a:cs typeface="Cambria" pitchFamily="34" charset="-120"/>
              </a:rPr>
              <a:t>Bouton retour haut</a:t>
            </a:r>
            <a:endParaRPr lang="en-US" sz="1300" dirty="0"/>
          </a:p>
        </p:txBody>
      </p:sp>
      <p:sp>
        <p:nvSpPr>
          <p:cNvPr id="15" name="Text 13"/>
          <p:cNvSpPr/>
          <p:nvPr/>
        </p:nvSpPr>
        <p:spPr>
          <a:xfrm>
            <a:off x="6263640" y="1828800"/>
            <a:ext cx="2514600" cy="9144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Apparaît au scroll, scroll smooth vers le top de la page avec un clic</a:t>
            </a:r>
            <a:endParaRPr lang="en-US" sz="1050" dirty="0"/>
          </a:p>
        </p:txBody>
      </p:sp>
      <p:sp>
        <p:nvSpPr>
          <p:cNvPr id="16" name="Shape 14"/>
          <p:cNvSpPr/>
          <p:nvPr/>
        </p:nvSpPr>
        <p:spPr>
          <a:xfrm>
            <a:off x="274320" y="3063240"/>
            <a:ext cx="2743200" cy="1737360"/>
          </a:xfrm>
          <a:prstGeom prst="roundRect">
            <a:avLst>
              <a:gd name="adj" fmla="val 7368"/>
            </a:avLst>
          </a:prstGeom>
          <a:solidFill>
            <a:srgbClr val="FFFFFF"/>
          </a:solidFill>
          <a:ln w="12700">
            <a:solidFill>
              <a:srgbClr val="EF4444">
                <a:alpha val="50000"/>
              </a:srgbClr>
            </a:solidFill>
            <a:prstDash val="solid"/>
          </a:ln>
          <a:effectLst>
            <a:outerShdw blurRad="101600" dist="38100" dir="2700000" algn="bl" rotWithShape="0">
              <a:srgbClr val="000000">
                <a:alpha val="18000"/>
              </a:srgbClr>
            </a:outerShdw>
          </a:effectLst>
        </p:spPr>
      </p:sp>
      <p:sp>
        <p:nvSpPr>
          <p:cNvPr id="17" name="Text 15"/>
          <p:cNvSpPr/>
          <p:nvPr/>
        </p:nvSpPr>
        <p:spPr>
          <a:xfrm>
            <a:off x="411480" y="3200400"/>
            <a:ext cx="502920" cy="5029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960120" y="3200400"/>
            <a:ext cx="1920240" cy="457200"/>
          </a:xfrm>
          <a:prstGeom prst="rect">
            <a:avLst/>
          </a:prstGeom>
          <a:noFill/>
          <a:ln/>
        </p:spPr>
        <p:txBody>
          <a:bodyPr wrap="square" rtlCol="0" anchor="ctr"/>
          <a:lstStyle/>
          <a:p>
            <a:pPr marL="0" indent="0">
              <a:buNone/>
            </a:pPr>
            <a:r>
              <a:rPr lang="en-US" sz="1300" b="1" dirty="0">
                <a:solidFill>
                  <a:srgbClr val="EF4444"/>
                </a:solidFill>
                <a:latin typeface="Cambria" pitchFamily="34" charset="0"/>
                <a:ea typeface="Cambria" pitchFamily="34" charset="-122"/>
                <a:cs typeface="Cambria" pitchFamily="34" charset="-120"/>
              </a:rPr>
              <a:t>Carousel témoignages</a:t>
            </a:r>
            <a:endParaRPr lang="en-US" sz="1300" dirty="0"/>
          </a:p>
        </p:txBody>
      </p:sp>
      <p:sp>
        <p:nvSpPr>
          <p:cNvPr id="19" name="Text 17"/>
          <p:cNvSpPr/>
          <p:nvPr/>
        </p:nvSpPr>
        <p:spPr>
          <a:xfrm>
            <a:off x="411480" y="3749040"/>
            <a:ext cx="2514600" cy="9144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Défilement automatique des avis clients avec Bootstrap Carousel et contrôle manuel</a:t>
            </a:r>
            <a:endParaRPr lang="en-US" sz="1050" dirty="0"/>
          </a:p>
        </p:txBody>
      </p:sp>
      <p:sp>
        <p:nvSpPr>
          <p:cNvPr id="20" name="Shape 18"/>
          <p:cNvSpPr/>
          <p:nvPr/>
        </p:nvSpPr>
        <p:spPr>
          <a:xfrm>
            <a:off x="3200400" y="3063240"/>
            <a:ext cx="2743200" cy="1737360"/>
          </a:xfrm>
          <a:prstGeom prst="roundRect">
            <a:avLst>
              <a:gd name="adj" fmla="val 7368"/>
            </a:avLst>
          </a:prstGeom>
          <a:solidFill>
            <a:srgbClr val="FFFFFF"/>
          </a:solidFill>
          <a:ln w="12700">
            <a:solidFill>
              <a:srgbClr val="4338CA">
                <a:alpha val="50000"/>
              </a:srgbClr>
            </a:solidFill>
            <a:prstDash val="solid"/>
          </a:ln>
          <a:effectLst>
            <a:outerShdw blurRad="101600" dist="38100" dir="2700000" algn="bl" rotWithShape="0">
              <a:srgbClr val="000000">
                <a:alpha val="18000"/>
              </a:srgbClr>
            </a:outerShdw>
          </a:effectLst>
        </p:spPr>
      </p:sp>
      <p:sp>
        <p:nvSpPr>
          <p:cNvPr id="21" name="Text 19"/>
          <p:cNvSpPr/>
          <p:nvPr/>
        </p:nvSpPr>
        <p:spPr>
          <a:xfrm>
            <a:off x="3337560" y="3200400"/>
            <a:ext cx="502920" cy="5029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2" name="Text 20"/>
          <p:cNvSpPr/>
          <p:nvPr/>
        </p:nvSpPr>
        <p:spPr>
          <a:xfrm>
            <a:off x="3886200" y="3200400"/>
            <a:ext cx="1920240" cy="457200"/>
          </a:xfrm>
          <a:prstGeom prst="rect">
            <a:avLst/>
          </a:prstGeom>
          <a:noFill/>
          <a:ln/>
        </p:spPr>
        <p:txBody>
          <a:bodyPr wrap="square" rtlCol="0" anchor="ctr"/>
          <a:lstStyle/>
          <a:p>
            <a:pPr marL="0" indent="0">
              <a:buNone/>
            </a:pPr>
            <a:r>
              <a:rPr lang="en-US" sz="1300" b="1" dirty="0">
                <a:solidFill>
                  <a:srgbClr val="4338CA"/>
                </a:solidFill>
                <a:latin typeface="Cambria" pitchFamily="34" charset="0"/>
                <a:ea typeface="Cambria" pitchFamily="34" charset="-122"/>
                <a:cs typeface="Cambria" pitchFamily="34" charset="-120"/>
              </a:rPr>
              <a:t>Hover effects</a:t>
            </a:r>
            <a:endParaRPr lang="en-US" sz="1300" dirty="0"/>
          </a:p>
        </p:txBody>
      </p:sp>
      <p:sp>
        <p:nvSpPr>
          <p:cNvPr id="23" name="Text 21"/>
          <p:cNvSpPr/>
          <p:nvPr/>
        </p:nvSpPr>
        <p:spPr>
          <a:xfrm>
            <a:off x="3337560" y="3749040"/>
            <a:ext cx="2514600" cy="9144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Transformations CSS3 au survol des cartes freelances, boutons et éléments de navigation</a:t>
            </a:r>
            <a:endParaRPr lang="en-US" sz="1050" dirty="0"/>
          </a:p>
        </p:txBody>
      </p:sp>
      <p:sp>
        <p:nvSpPr>
          <p:cNvPr id="24" name="Shape 22"/>
          <p:cNvSpPr/>
          <p:nvPr/>
        </p:nvSpPr>
        <p:spPr>
          <a:xfrm>
            <a:off x="6126480" y="3063240"/>
            <a:ext cx="2743200" cy="1737360"/>
          </a:xfrm>
          <a:prstGeom prst="roundRect">
            <a:avLst>
              <a:gd name="adj" fmla="val 7368"/>
            </a:avLst>
          </a:prstGeom>
          <a:solidFill>
            <a:srgbClr val="FFFFFF"/>
          </a:solidFill>
          <a:ln w="12700">
            <a:solidFill>
              <a:srgbClr val="059669">
                <a:alpha val="50000"/>
              </a:srgbClr>
            </a:solidFill>
            <a:prstDash val="solid"/>
          </a:ln>
          <a:effectLst>
            <a:outerShdw blurRad="101600" dist="38100" dir="2700000" algn="bl" rotWithShape="0">
              <a:srgbClr val="000000">
                <a:alpha val="18000"/>
              </a:srgbClr>
            </a:outerShdw>
          </a:effectLst>
        </p:spPr>
      </p:sp>
      <p:sp>
        <p:nvSpPr>
          <p:cNvPr id="25" name="Text 23"/>
          <p:cNvSpPr/>
          <p:nvPr/>
        </p:nvSpPr>
        <p:spPr>
          <a:xfrm>
            <a:off x="6263640" y="3200400"/>
            <a:ext cx="502920" cy="5029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6" name="Text 24"/>
          <p:cNvSpPr/>
          <p:nvPr/>
        </p:nvSpPr>
        <p:spPr>
          <a:xfrm>
            <a:off x="6812280" y="3200400"/>
            <a:ext cx="1920240" cy="457200"/>
          </a:xfrm>
          <a:prstGeom prst="rect">
            <a:avLst/>
          </a:prstGeom>
          <a:noFill/>
          <a:ln/>
        </p:spPr>
        <p:txBody>
          <a:bodyPr wrap="square" rtlCol="0" anchor="ctr"/>
          <a:lstStyle/>
          <a:p>
            <a:pPr marL="0" indent="0">
              <a:buNone/>
            </a:pPr>
            <a:r>
              <a:rPr lang="en-US" sz="1300" b="1" dirty="0">
                <a:solidFill>
                  <a:srgbClr val="059669"/>
                </a:solidFill>
                <a:latin typeface="Cambria" pitchFamily="34" charset="0"/>
                <a:ea typeface="Cambria" pitchFamily="34" charset="-122"/>
                <a:cs typeface="Cambria" pitchFamily="34" charset="-120"/>
              </a:rPr>
              <a:t>Transitions fluides</a:t>
            </a:r>
            <a:endParaRPr lang="en-US" sz="1300" dirty="0"/>
          </a:p>
        </p:txBody>
      </p:sp>
      <p:sp>
        <p:nvSpPr>
          <p:cNvPr id="27" name="Text 25"/>
          <p:cNvSpPr/>
          <p:nvPr/>
        </p:nvSpPr>
        <p:spPr>
          <a:xfrm>
            <a:off x="6263640" y="3749040"/>
            <a:ext cx="2514600" cy="9144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CSS transition sur tous les changements d'état : couleur, taille, opacité, dark mode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4C7"/>
          </a:solidFill>
          <a:ln w="12700">
            <a:solidFill>
              <a:srgbClr val="0284C7"/>
            </a:solidFill>
            <a:prstDash val="solid"/>
          </a:ln>
        </p:spPr>
      </p:sp>
      <p:sp>
        <p:nvSpPr>
          <p:cNvPr id="3" name="Text 1"/>
          <p:cNvSpPr/>
          <p:nvPr/>
        </p:nvSpPr>
        <p:spPr>
          <a:xfrm>
            <a:off x="274320" y="0"/>
            <a:ext cx="8229600" cy="10058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Ressources Utilisées</a:t>
            </a:r>
            <a:endParaRPr lang="en-US" sz="2800" dirty="0"/>
          </a:p>
        </p:txBody>
      </p:sp>
      <p:sp>
        <p:nvSpPr>
          <p:cNvPr id="4" name="Shape 2"/>
          <p:cNvSpPr/>
          <p:nvPr/>
        </p:nvSpPr>
        <p:spPr>
          <a:xfrm>
            <a:off x="274320" y="1143000"/>
            <a:ext cx="4114800" cy="1783080"/>
          </a:xfrm>
          <a:prstGeom prst="roundRect">
            <a:avLst>
              <a:gd name="adj" fmla="val 7179"/>
            </a:avLst>
          </a:prstGeom>
          <a:solidFill>
            <a:srgbClr val="FFFFFF"/>
          </a:solidFill>
          <a:ln w="12700">
            <a:solidFill>
              <a:srgbClr val="0284C7">
                <a:alpha val="60000"/>
              </a:srgbClr>
            </a:solidFill>
            <a:prstDash val="solid"/>
          </a:ln>
          <a:effectLst>
            <a:outerShdw blurRad="101600" dist="38100" dir="2700000" algn="bl" rotWithShape="0">
              <a:srgbClr val="000000">
                <a:alpha val="18000"/>
              </a:srgbClr>
            </a:outerShdw>
          </a:effectLst>
        </p:spPr>
      </p:sp>
      <p:sp>
        <p:nvSpPr>
          <p:cNvPr id="5" name="Text 3"/>
          <p:cNvSpPr/>
          <p:nvPr/>
        </p:nvSpPr>
        <p:spPr>
          <a:xfrm>
            <a:off x="457200" y="1280160"/>
            <a:ext cx="3749040" cy="411480"/>
          </a:xfrm>
          <a:prstGeom prst="rect">
            <a:avLst/>
          </a:prstGeom>
          <a:noFill/>
          <a:ln/>
        </p:spPr>
        <p:txBody>
          <a:bodyPr wrap="square" rtlCol="0" anchor="ctr"/>
          <a:lstStyle/>
          <a:p>
            <a:pPr marL="0" indent="0">
              <a:buNone/>
            </a:pPr>
            <a:r>
              <a:rPr lang="en-US" sz="1400" b="1" dirty="0">
                <a:solidFill>
                  <a:srgbClr val="0284C7"/>
                </a:solidFill>
                <a:latin typeface="Cambria" pitchFamily="34" charset="0"/>
                <a:ea typeface="Cambria" pitchFamily="34" charset="-122"/>
                <a:cs typeface="Cambria" pitchFamily="34" charset="-120"/>
              </a:rPr>
              <a:t>📖 Documentation</a:t>
            </a:r>
            <a:endParaRPr lang="en-US" sz="1400" dirty="0"/>
          </a:p>
        </p:txBody>
      </p:sp>
      <p:sp>
        <p:nvSpPr>
          <p:cNvPr id="6" name="Shape 4"/>
          <p:cNvSpPr/>
          <p:nvPr/>
        </p:nvSpPr>
        <p:spPr>
          <a:xfrm>
            <a:off x="457200" y="1901952"/>
            <a:ext cx="128016" cy="128016"/>
          </a:xfrm>
          <a:prstGeom prst="ellipse">
            <a:avLst/>
          </a:prstGeom>
          <a:solidFill>
            <a:srgbClr val="0284C7"/>
          </a:solidFill>
          <a:ln w="12700">
            <a:solidFill>
              <a:srgbClr val="0284C7"/>
            </a:solidFill>
            <a:prstDash val="solid"/>
          </a:ln>
        </p:spPr>
      </p:sp>
      <p:sp>
        <p:nvSpPr>
          <p:cNvPr id="7" name="Text 5"/>
          <p:cNvSpPr/>
          <p:nvPr/>
        </p:nvSpPr>
        <p:spPr>
          <a:xfrm>
            <a:off x="658368" y="1764792"/>
            <a:ext cx="356616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getbootstrap.com — Bootstrap 5 officiel</a:t>
            </a:r>
            <a:endParaRPr lang="en-US" sz="1100" dirty="0"/>
          </a:p>
        </p:txBody>
      </p:sp>
      <p:sp>
        <p:nvSpPr>
          <p:cNvPr id="8" name="Shape 6"/>
          <p:cNvSpPr/>
          <p:nvPr/>
        </p:nvSpPr>
        <p:spPr>
          <a:xfrm>
            <a:off x="457200" y="2286000"/>
            <a:ext cx="128016" cy="128016"/>
          </a:xfrm>
          <a:prstGeom prst="ellipse">
            <a:avLst/>
          </a:prstGeom>
          <a:solidFill>
            <a:srgbClr val="0284C7"/>
          </a:solidFill>
          <a:ln w="12700">
            <a:solidFill>
              <a:srgbClr val="0284C7"/>
            </a:solidFill>
            <a:prstDash val="solid"/>
          </a:ln>
        </p:spPr>
      </p:sp>
      <p:sp>
        <p:nvSpPr>
          <p:cNvPr id="9" name="Text 7"/>
          <p:cNvSpPr/>
          <p:nvPr/>
        </p:nvSpPr>
        <p:spPr>
          <a:xfrm>
            <a:off x="658368" y="2148840"/>
            <a:ext cx="356616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developer.mozilla.org — MDN Web Docs</a:t>
            </a:r>
            <a:endParaRPr lang="en-US" sz="1100" dirty="0"/>
          </a:p>
        </p:txBody>
      </p:sp>
      <p:sp>
        <p:nvSpPr>
          <p:cNvPr id="10" name="Shape 8"/>
          <p:cNvSpPr/>
          <p:nvPr/>
        </p:nvSpPr>
        <p:spPr>
          <a:xfrm>
            <a:off x="457200" y="2670048"/>
            <a:ext cx="128016" cy="128016"/>
          </a:xfrm>
          <a:prstGeom prst="ellipse">
            <a:avLst/>
          </a:prstGeom>
          <a:solidFill>
            <a:srgbClr val="0284C7"/>
          </a:solidFill>
          <a:ln w="12700">
            <a:solidFill>
              <a:srgbClr val="0284C7"/>
            </a:solidFill>
            <a:prstDash val="solid"/>
          </a:ln>
        </p:spPr>
      </p:sp>
      <p:sp>
        <p:nvSpPr>
          <p:cNvPr id="11" name="Text 9"/>
          <p:cNvSpPr/>
          <p:nvPr/>
        </p:nvSpPr>
        <p:spPr>
          <a:xfrm>
            <a:off x="658368" y="2532888"/>
            <a:ext cx="356616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w3schools.com — Tutoriels HTML/CSS/JS</a:t>
            </a:r>
            <a:endParaRPr lang="en-US" sz="1100" dirty="0"/>
          </a:p>
        </p:txBody>
      </p:sp>
      <p:sp>
        <p:nvSpPr>
          <p:cNvPr id="12" name="Shape 10"/>
          <p:cNvSpPr/>
          <p:nvPr/>
        </p:nvSpPr>
        <p:spPr>
          <a:xfrm>
            <a:off x="4754880" y="1143000"/>
            <a:ext cx="4114800" cy="1783080"/>
          </a:xfrm>
          <a:prstGeom prst="roundRect">
            <a:avLst>
              <a:gd name="adj" fmla="val 7179"/>
            </a:avLst>
          </a:prstGeom>
          <a:solidFill>
            <a:srgbClr val="FFFFFF"/>
          </a:solidFill>
          <a:ln w="12700">
            <a:solidFill>
              <a:srgbClr val="7C3AED">
                <a:alpha val="60000"/>
              </a:srgbClr>
            </a:solidFill>
            <a:prstDash val="solid"/>
          </a:ln>
          <a:effectLst>
            <a:outerShdw blurRad="101600" dist="38100" dir="2700000" algn="bl" rotWithShape="0">
              <a:srgbClr val="000000">
                <a:alpha val="18000"/>
              </a:srgbClr>
            </a:outerShdw>
          </a:effectLst>
        </p:spPr>
      </p:sp>
      <p:sp>
        <p:nvSpPr>
          <p:cNvPr id="13" name="Text 11"/>
          <p:cNvSpPr/>
          <p:nvPr/>
        </p:nvSpPr>
        <p:spPr>
          <a:xfrm>
            <a:off x="4937760" y="1280160"/>
            <a:ext cx="3749040" cy="411480"/>
          </a:xfrm>
          <a:prstGeom prst="rect">
            <a:avLst/>
          </a:prstGeom>
          <a:noFill/>
          <a:ln/>
        </p:spPr>
        <p:txBody>
          <a:bodyPr wrap="square" rtlCol="0" anchor="ctr"/>
          <a:lstStyle/>
          <a:p>
            <a:pPr marL="0" indent="0">
              <a:buNone/>
            </a:pPr>
            <a:r>
              <a:rPr lang="en-US" sz="1400" b="1" dirty="0">
                <a:solidFill>
                  <a:srgbClr val="7C3AED"/>
                </a:solidFill>
                <a:latin typeface="Cambria" pitchFamily="34" charset="0"/>
                <a:ea typeface="Cambria" pitchFamily="34" charset="-122"/>
                <a:cs typeface="Cambria" pitchFamily="34" charset="-120"/>
              </a:rPr>
              <a:t>🎨 Design &amp; Assets</a:t>
            </a:r>
            <a:endParaRPr lang="en-US" sz="1400" dirty="0"/>
          </a:p>
        </p:txBody>
      </p:sp>
      <p:sp>
        <p:nvSpPr>
          <p:cNvPr id="14" name="Shape 12"/>
          <p:cNvSpPr/>
          <p:nvPr/>
        </p:nvSpPr>
        <p:spPr>
          <a:xfrm>
            <a:off x="4937760" y="1901952"/>
            <a:ext cx="128016" cy="128016"/>
          </a:xfrm>
          <a:prstGeom prst="ellipse">
            <a:avLst/>
          </a:prstGeom>
          <a:solidFill>
            <a:srgbClr val="7C3AED"/>
          </a:solidFill>
          <a:ln w="12700">
            <a:solidFill>
              <a:srgbClr val="7C3AED"/>
            </a:solidFill>
            <a:prstDash val="solid"/>
          </a:ln>
        </p:spPr>
      </p:sp>
      <p:sp>
        <p:nvSpPr>
          <p:cNvPr id="15" name="Text 13"/>
          <p:cNvSpPr/>
          <p:nvPr/>
        </p:nvSpPr>
        <p:spPr>
          <a:xfrm>
            <a:off x="5138928" y="1764792"/>
            <a:ext cx="356616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Google Fonts — Poppins &amp; Roboto</a:t>
            </a:r>
            <a:endParaRPr lang="en-US" sz="1100" dirty="0"/>
          </a:p>
        </p:txBody>
      </p:sp>
      <p:sp>
        <p:nvSpPr>
          <p:cNvPr id="16" name="Shape 14"/>
          <p:cNvSpPr/>
          <p:nvPr/>
        </p:nvSpPr>
        <p:spPr>
          <a:xfrm>
            <a:off x="4937760" y="2286000"/>
            <a:ext cx="128016" cy="128016"/>
          </a:xfrm>
          <a:prstGeom prst="ellipse">
            <a:avLst/>
          </a:prstGeom>
          <a:solidFill>
            <a:srgbClr val="7C3AED"/>
          </a:solidFill>
          <a:ln w="12700">
            <a:solidFill>
              <a:srgbClr val="7C3AED"/>
            </a:solidFill>
            <a:prstDash val="solid"/>
          </a:ln>
        </p:spPr>
      </p:sp>
      <p:sp>
        <p:nvSpPr>
          <p:cNvPr id="17" name="Text 15"/>
          <p:cNvSpPr/>
          <p:nvPr/>
        </p:nvSpPr>
        <p:spPr>
          <a:xfrm>
            <a:off x="5138928" y="2148840"/>
            <a:ext cx="356616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Bootstrap Icons — 2000+ icônes SVG</a:t>
            </a:r>
            <a:endParaRPr lang="en-US" sz="1100" dirty="0"/>
          </a:p>
        </p:txBody>
      </p:sp>
      <p:sp>
        <p:nvSpPr>
          <p:cNvPr id="18" name="Shape 16"/>
          <p:cNvSpPr/>
          <p:nvPr/>
        </p:nvSpPr>
        <p:spPr>
          <a:xfrm>
            <a:off x="4937760" y="2670048"/>
            <a:ext cx="128016" cy="128016"/>
          </a:xfrm>
          <a:prstGeom prst="ellipse">
            <a:avLst/>
          </a:prstGeom>
          <a:solidFill>
            <a:srgbClr val="7C3AED"/>
          </a:solidFill>
          <a:ln w="12700">
            <a:solidFill>
              <a:srgbClr val="7C3AED"/>
            </a:solidFill>
            <a:prstDash val="solid"/>
          </a:ln>
        </p:spPr>
      </p:sp>
      <p:sp>
        <p:nvSpPr>
          <p:cNvPr id="19" name="Text 17"/>
          <p:cNvSpPr/>
          <p:nvPr/>
        </p:nvSpPr>
        <p:spPr>
          <a:xfrm>
            <a:off x="5138928" y="2532888"/>
            <a:ext cx="356616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Unsplash.com — Photos libres de droits</a:t>
            </a:r>
            <a:endParaRPr lang="en-US" sz="1100" dirty="0"/>
          </a:p>
        </p:txBody>
      </p:sp>
      <p:sp>
        <p:nvSpPr>
          <p:cNvPr id="20" name="Shape 18"/>
          <p:cNvSpPr/>
          <p:nvPr/>
        </p:nvSpPr>
        <p:spPr>
          <a:xfrm>
            <a:off x="274320" y="3108960"/>
            <a:ext cx="4114800" cy="1783080"/>
          </a:xfrm>
          <a:prstGeom prst="roundRect">
            <a:avLst>
              <a:gd name="adj" fmla="val 7179"/>
            </a:avLst>
          </a:prstGeom>
          <a:solidFill>
            <a:srgbClr val="FFFFFF"/>
          </a:solidFill>
          <a:ln w="12700">
            <a:solidFill>
              <a:srgbClr val="0D9488">
                <a:alpha val="60000"/>
              </a:srgbClr>
            </a:solidFill>
            <a:prstDash val="solid"/>
          </a:ln>
          <a:effectLst>
            <a:outerShdw blurRad="101600" dist="38100" dir="2700000" algn="bl" rotWithShape="0">
              <a:srgbClr val="000000">
                <a:alpha val="18000"/>
              </a:srgbClr>
            </a:outerShdw>
          </a:effectLst>
        </p:spPr>
      </p:sp>
      <p:sp>
        <p:nvSpPr>
          <p:cNvPr id="21" name="Text 19"/>
          <p:cNvSpPr/>
          <p:nvPr/>
        </p:nvSpPr>
        <p:spPr>
          <a:xfrm>
            <a:off x="457200" y="3246120"/>
            <a:ext cx="3749040" cy="411480"/>
          </a:xfrm>
          <a:prstGeom prst="rect">
            <a:avLst/>
          </a:prstGeom>
          <a:noFill/>
          <a:ln/>
        </p:spPr>
        <p:txBody>
          <a:bodyPr wrap="square" rtlCol="0" anchor="ctr"/>
          <a:lstStyle/>
          <a:p>
            <a:pPr marL="0" indent="0">
              <a:buNone/>
            </a:pPr>
            <a:r>
              <a:rPr lang="en-US" sz="1400" b="1" dirty="0">
                <a:solidFill>
                  <a:srgbClr val="0D9488"/>
                </a:solidFill>
                <a:latin typeface="Cambria" pitchFamily="34" charset="0"/>
                <a:ea typeface="Cambria" pitchFamily="34" charset="-122"/>
                <a:cs typeface="Cambria" pitchFamily="34" charset="-120"/>
              </a:rPr>
              <a:t>🛠️ Outils Dev</a:t>
            </a:r>
            <a:endParaRPr lang="en-US" sz="1400" dirty="0"/>
          </a:p>
        </p:txBody>
      </p:sp>
      <p:sp>
        <p:nvSpPr>
          <p:cNvPr id="22" name="Shape 20"/>
          <p:cNvSpPr/>
          <p:nvPr/>
        </p:nvSpPr>
        <p:spPr>
          <a:xfrm>
            <a:off x="457200" y="3867912"/>
            <a:ext cx="128016" cy="128016"/>
          </a:xfrm>
          <a:prstGeom prst="ellipse">
            <a:avLst/>
          </a:prstGeom>
          <a:solidFill>
            <a:srgbClr val="0D9488"/>
          </a:solidFill>
          <a:ln w="12700">
            <a:solidFill>
              <a:srgbClr val="0D9488"/>
            </a:solidFill>
            <a:prstDash val="solid"/>
          </a:ln>
        </p:spPr>
      </p:sp>
      <p:sp>
        <p:nvSpPr>
          <p:cNvPr id="23" name="Text 21"/>
          <p:cNvSpPr/>
          <p:nvPr/>
        </p:nvSpPr>
        <p:spPr>
          <a:xfrm>
            <a:off x="658368" y="3730752"/>
            <a:ext cx="356616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VS Code — Éditeur de code</a:t>
            </a:r>
            <a:endParaRPr lang="en-US" sz="1100" dirty="0"/>
          </a:p>
        </p:txBody>
      </p:sp>
      <p:sp>
        <p:nvSpPr>
          <p:cNvPr id="24" name="Shape 22"/>
          <p:cNvSpPr/>
          <p:nvPr/>
        </p:nvSpPr>
        <p:spPr>
          <a:xfrm>
            <a:off x="457200" y="4251960"/>
            <a:ext cx="128016" cy="128016"/>
          </a:xfrm>
          <a:prstGeom prst="ellipse">
            <a:avLst/>
          </a:prstGeom>
          <a:solidFill>
            <a:srgbClr val="0D9488"/>
          </a:solidFill>
          <a:ln w="12700">
            <a:solidFill>
              <a:srgbClr val="0D9488"/>
            </a:solidFill>
            <a:prstDash val="solid"/>
          </a:ln>
        </p:spPr>
      </p:sp>
      <p:sp>
        <p:nvSpPr>
          <p:cNvPr id="25" name="Text 23"/>
          <p:cNvSpPr/>
          <p:nvPr/>
        </p:nvSpPr>
        <p:spPr>
          <a:xfrm>
            <a:off x="658368" y="4114800"/>
            <a:ext cx="356616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Git &amp; GitHub — Versioning</a:t>
            </a:r>
            <a:endParaRPr lang="en-US" sz="1100" dirty="0"/>
          </a:p>
        </p:txBody>
      </p:sp>
      <p:sp>
        <p:nvSpPr>
          <p:cNvPr id="26" name="Shape 24"/>
          <p:cNvSpPr/>
          <p:nvPr/>
        </p:nvSpPr>
        <p:spPr>
          <a:xfrm>
            <a:off x="457200" y="4636008"/>
            <a:ext cx="128016" cy="128016"/>
          </a:xfrm>
          <a:prstGeom prst="ellipse">
            <a:avLst/>
          </a:prstGeom>
          <a:solidFill>
            <a:srgbClr val="0D9488"/>
          </a:solidFill>
          <a:ln w="12700">
            <a:solidFill>
              <a:srgbClr val="0D9488"/>
            </a:solidFill>
            <a:prstDash val="solid"/>
          </a:ln>
        </p:spPr>
      </p:sp>
      <p:sp>
        <p:nvSpPr>
          <p:cNvPr id="27" name="Text 25"/>
          <p:cNvSpPr/>
          <p:nvPr/>
        </p:nvSpPr>
        <p:spPr>
          <a:xfrm>
            <a:off x="658368" y="4498848"/>
            <a:ext cx="356616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Live Server — Prévisualisation locale</a:t>
            </a:r>
            <a:endParaRPr lang="en-US" sz="1100" dirty="0"/>
          </a:p>
        </p:txBody>
      </p:sp>
      <p:sp>
        <p:nvSpPr>
          <p:cNvPr id="28" name="Shape 26"/>
          <p:cNvSpPr/>
          <p:nvPr/>
        </p:nvSpPr>
        <p:spPr>
          <a:xfrm>
            <a:off x="4572000" y="3122023"/>
            <a:ext cx="4114800" cy="1783080"/>
          </a:xfrm>
          <a:prstGeom prst="roundRect">
            <a:avLst>
              <a:gd name="adj" fmla="val 7179"/>
            </a:avLst>
          </a:prstGeom>
          <a:solidFill>
            <a:srgbClr val="FFFFFF"/>
          </a:solidFill>
          <a:ln w="12700">
            <a:solidFill>
              <a:srgbClr val="F97316">
                <a:alpha val="60000"/>
              </a:srgbClr>
            </a:solidFill>
            <a:prstDash val="solid"/>
          </a:ln>
          <a:effectLst>
            <a:outerShdw blurRad="101600" dist="38100" dir="2700000" algn="bl" rotWithShape="0">
              <a:srgbClr val="000000">
                <a:alpha val="18000"/>
              </a:srgbClr>
            </a:outerShdw>
          </a:effectLst>
        </p:spPr>
      </p:sp>
      <p:sp>
        <p:nvSpPr>
          <p:cNvPr id="29" name="Text 27"/>
          <p:cNvSpPr/>
          <p:nvPr/>
        </p:nvSpPr>
        <p:spPr>
          <a:xfrm>
            <a:off x="4937760" y="3246120"/>
            <a:ext cx="3749040" cy="411480"/>
          </a:xfrm>
          <a:prstGeom prst="rect">
            <a:avLst/>
          </a:prstGeom>
          <a:noFill/>
          <a:ln/>
        </p:spPr>
        <p:txBody>
          <a:bodyPr wrap="square" rtlCol="0" anchor="ctr"/>
          <a:lstStyle/>
          <a:p>
            <a:pPr marL="0" indent="0">
              <a:buNone/>
            </a:pPr>
            <a:r>
              <a:rPr lang="en-US" sz="1400" b="1" dirty="0">
                <a:solidFill>
                  <a:srgbClr val="F97316"/>
                </a:solidFill>
                <a:latin typeface="Cambria" pitchFamily="34" charset="0"/>
                <a:ea typeface="Cambria" pitchFamily="34" charset="-122"/>
                <a:cs typeface="Cambria" pitchFamily="34" charset="-120"/>
              </a:rPr>
              <a:t>🌐 Références</a:t>
            </a:r>
            <a:endParaRPr lang="en-US" sz="1400" dirty="0"/>
          </a:p>
        </p:txBody>
      </p:sp>
      <p:sp>
        <p:nvSpPr>
          <p:cNvPr id="30" name="Shape 28"/>
          <p:cNvSpPr/>
          <p:nvPr/>
        </p:nvSpPr>
        <p:spPr>
          <a:xfrm>
            <a:off x="4937760" y="3867912"/>
            <a:ext cx="128016" cy="128016"/>
          </a:xfrm>
          <a:prstGeom prst="ellipse">
            <a:avLst/>
          </a:prstGeom>
          <a:solidFill>
            <a:srgbClr val="F97316"/>
          </a:solidFill>
          <a:ln w="12700">
            <a:solidFill>
              <a:srgbClr val="F97316"/>
            </a:solidFill>
            <a:prstDash val="solid"/>
          </a:ln>
        </p:spPr>
      </p:sp>
      <p:sp>
        <p:nvSpPr>
          <p:cNvPr id="31" name="Text 29"/>
          <p:cNvSpPr/>
          <p:nvPr/>
        </p:nvSpPr>
        <p:spPr>
          <a:xfrm>
            <a:off x="5138928" y="3730752"/>
            <a:ext cx="356616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Malt.fr — Inspiration UX/UI</a:t>
            </a:r>
            <a:endParaRPr lang="en-US" sz="1100" dirty="0"/>
          </a:p>
        </p:txBody>
      </p:sp>
      <p:sp>
        <p:nvSpPr>
          <p:cNvPr id="33" name="Text 31"/>
          <p:cNvSpPr/>
          <p:nvPr/>
        </p:nvSpPr>
        <p:spPr>
          <a:xfrm>
            <a:off x="5138928" y="4114800"/>
            <a:ext cx="3566160" cy="365760"/>
          </a:xfrm>
          <a:prstGeom prst="rect">
            <a:avLst/>
          </a:prstGeom>
          <a:noFill/>
          <a:ln/>
        </p:spPr>
        <p:txBody>
          <a:bodyPr wrap="square" rtlCol="0" anchor="ctr"/>
          <a:lstStyle/>
          <a:p>
            <a:pPr marL="0" indent="0">
              <a:buNone/>
            </a:pPr>
            <a:endParaRPr lang="en-US" sz="1100" dirty="0"/>
          </a:p>
        </p:txBody>
      </p:sp>
      <p:sp>
        <p:nvSpPr>
          <p:cNvPr id="34" name="Shape 32"/>
          <p:cNvSpPr/>
          <p:nvPr/>
        </p:nvSpPr>
        <p:spPr>
          <a:xfrm>
            <a:off x="4937760" y="4636008"/>
            <a:ext cx="128016" cy="128016"/>
          </a:xfrm>
          <a:prstGeom prst="ellipse">
            <a:avLst/>
          </a:prstGeom>
          <a:solidFill>
            <a:srgbClr val="F97316"/>
          </a:solidFill>
          <a:ln w="12700">
            <a:solidFill>
              <a:srgbClr val="F97316"/>
            </a:solidFill>
            <a:prstDash val="solid"/>
          </a:ln>
        </p:spPr>
      </p:sp>
      <p:sp>
        <p:nvSpPr>
          <p:cNvPr id="35" name="Text 33"/>
          <p:cNvSpPr/>
          <p:nvPr/>
        </p:nvSpPr>
        <p:spPr>
          <a:xfrm>
            <a:off x="5138928" y="4498848"/>
            <a:ext cx="356616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YouTube — Tutoriels techniques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1F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F4444"/>
          </a:solidFill>
          <a:ln w="12700">
            <a:solidFill>
              <a:srgbClr val="EF4444"/>
            </a:solidFill>
            <a:prstDash val="solid"/>
          </a:ln>
        </p:spPr>
      </p:sp>
      <p:sp>
        <p:nvSpPr>
          <p:cNvPr id="3" name="Text 1"/>
          <p:cNvSpPr/>
          <p:nvPr/>
        </p:nvSpPr>
        <p:spPr>
          <a:xfrm>
            <a:off x="274320" y="0"/>
            <a:ext cx="8229600" cy="10058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Difficultés &amp; Solutions</a:t>
            </a:r>
            <a:endParaRPr lang="en-US" sz="2800" dirty="0"/>
          </a:p>
        </p:txBody>
      </p:sp>
      <p:sp>
        <p:nvSpPr>
          <p:cNvPr id="4" name="Shape 2"/>
          <p:cNvSpPr/>
          <p:nvPr/>
        </p:nvSpPr>
        <p:spPr>
          <a:xfrm>
            <a:off x="274320" y="1143000"/>
            <a:ext cx="3931920" cy="822960"/>
          </a:xfrm>
          <a:prstGeom prst="roundRect">
            <a:avLst>
              <a:gd name="adj" fmla="val 11111"/>
            </a:avLst>
          </a:prstGeom>
          <a:solidFill>
            <a:srgbClr val="FEE2E2"/>
          </a:solidFill>
          <a:ln w="12700">
            <a:solidFill>
              <a:srgbClr val="EF4444">
                <a:alpha val="60000"/>
              </a:srgbClr>
            </a:solidFill>
            <a:prstDash val="solid"/>
          </a:ln>
        </p:spPr>
      </p:sp>
      <p:sp>
        <p:nvSpPr>
          <p:cNvPr id="5" name="Text 3"/>
          <p:cNvSpPr/>
          <p:nvPr/>
        </p:nvSpPr>
        <p:spPr>
          <a:xfrm>
            <a:off x="411480" y="1143000"/>
            <a:ext cx="3749040" cy="822960"/>
          </a:xfrm>
          <a:prstGeom prst="rect">
            <a:avLst/>
          </a:prstGeom>
          <a:noFill/>
          <a:ln/>
        </p:spPr>
        <p:txBody>
          <a:bodyPr wrap="square" rtlCol="0" anchor="ctr"/>
          <a:lstStyle/>
          <a:p>
            <a:pPr marL="0" indent="0">
              <a:buNone/>
            </a:pPr>
            <a:r>
              <a:rPr lang="en-US" sz="1200" dirty="0">
                <a:solidFill>
                  <a:srgbClr val="991B1B"/>
                </a:solidFill>
                <a:latin typeface="Calibri" pitchFamily="34" charset="0"/>
                <a:ea typeface="Calibri" pitchFamily="34" charset="-122"/>
                <a:cs typeface="Calibri" pitchFamily="34" charset="-120"/>
              </a:rPr>
              <a:t>⚠️  Conflit de JavaScript entre pages</a:t>
            </a:r>
            <a:endParaRPr lang="en-US" sz="1200" dirty="0"/>
          </a:p>
        </p:txBody>
      </p:sp>
      <p:sp>
        <p:nvSpPr>
          <p:cNvPr id="6" name="Text 4"/>
          <p:cNvSpPr/>
          <p:nvPr/>
        </p:nvSpPr>
        <p:spPr>
          <a:xfrm>
            <a:off x="4297680" y="1143000"/>
            <a:ext cx="457200" cy="822960"/>
          </a:xfrm>
          <a:prstGeom prst="rect">
            <a:avLst/>
          </a:prstGeom>
          <a:noFill/>
          <a:ln/>
        </p:spPr>
        <p:txBody>
          <a:bodyPr wrap="square" rtlCol="0" anchor="ctr"/>
          <a:lstStyle/>
          <a:p>
            <a:pPr marL="0" indent="0" algn="ctr">
              <a:buNone/>
            </a:pPr>
            <a:r>
              <a:rPr lang="en-US" sz="2000" b="1" dirty="0">
                <a:solidFill>
                  <a:srgbClr val="059669"/>
                </a:solidFill>
              </a:rPr>
              <a:t>→</a:t>
            </a:r>
            <a:endParaRPr lang="en-US" sz="2000" dirty="0"/>
          </a:p>
        </p:txBody>
      </p:sp>
      <p:sp>
        <p:nvSpPr>
          <p:cNvPr id="7" name="Shape 5"/>
          <p:cNvSpPr/>
          <p:nvPr/>
        </p:nvSpPr>
        <p:spPr>
          <a:xfrm>
            <a:off x="4846320" y="1143000"/>
            <a:ext cx="3931920" cy="822960"/>
          </a:xfrm>
          <a:prstGeom prst="roundRect">
            <a:avLst>
              <a:gd name="adj" fmla="val 11111"/>
            </a:avLst>
          </a:prstGeom>
          <a:solidFill>
            <a:srgbClr val="D1FAE5"/>
          </a:solidFill>
          <a:ln w="12700">
            <a:solidFill>
              <a:srgbClr val="059669">
                <a:alpha val="60000"/>
              </a:srgbClr>
            </a:solidFill>
            <a:prstDash val="solid"/>
          </a:ln>
        </p:spPr>
      </p:sp>
      <p:sp>
        <p:nvSpPr>
          <p:cNvPr id="8" name="Text 6"/>
          <p:cNvSpPr/>
          <p:nvPr/>
        </p:nvSpPr>
        <p:spPr>
          <a:xfrm>
            <a:off x="4983480" y="1143000"/>
            <a:ext cx="3749040" cy="822960"/>
          </a:xfrm>
          <a:prstGeom prst="rect">
            <a:avLst/>
          </a:prstGeom>
          <a:noFill/>
          <a:ln/>
        </p:spPr>
        <p:txBody>
          <a:bodyPr wrap="square" rtlCol="0" anchor="ctr"/>
          <a:lstStyle/>
          <a:p>
            <a:pPr marL="0" indent="0">
              <a:buNone/>
            </a:pPr>
            <a:r>
              <a:rPr lang="en-US" sz="1100" dirty="0">
                <a:solidFill>
                  <a:srgbClr val="065F46"/>
                </a:solidFill>
                <a:latin typeface="Calibri" pitchFamily="34" charset="0"/>
                <a:ea typeface="Calibri" pitchFamily="34" charset="-122"/>
                <a:cs typeface="Calibri" pitchFamily="34" charset="-120"/>
              </a:rPr>
              <a:t>✅  Encapsulation dans DOMContentLoaded + vérification null avant chaque sélecteur</a:t>
            </a:r>
            <a:endParaRPr lang="en-US" sz="1100" dirty="0"/>
          </a:p>
        </p:txBody>
      </p:sp>
      <p:sp>
        <p:nvSpPr>
          <p:cNvPr id="9" name="Shape 7"/>
          <p:cNvSpPr/>
          <p:nvPr/>
        </p:nvSpPr>
        <p:spPr>
          <a:xfrm>
            <a:off x="274320" y="2103120"/>
            <a:ext cx="3931920" cy="822960"/>
          </a:xfrm>
          <a:prstGeom prst="roundRect">
            <a:avLst>
              <a:gd name="adj" fmla="val 11111"/>
            </a:avLst>
          </a:prstGeom>
          <a:solidFill>
            <a:srgbClr val="FEE2E2"/>
          </a:solidFill>
          <a:ln w="12700">
            <a:solidFill>
              <a:srgbClr val="EF4444">
                <a:alpha val="60000"/>
              </a:srgbClr>
            </a:solidFill>
            <a:prstDash val="solid"/>
          </a:ln>
        </p:spPr>
      </p:sp>
      <p:sp>
        <p:nvSpPr>
          <p:cNvPr id="10" name="Text 8"/>
          <p:cNvSpPr/>
          <p:nvPr/>
        </p:nvSpPr>
        <p:spPr>
          <a:xfrm>
            <a:off x="411480" y="2103120"/>
            <a:ext cx="3749040" cy="822960"/>
          </a:xfrm>
          <a:prstGeom prst="rect">
            <a:avLst/>
          </a:prstGeom>
          <a:noFill/>
          <a:ln/>
        </p:spPr>
        <p:txBody>
          <a:bodyPr wrap="square" rtlCol="0" anchor="ctr"/>
          <a:lstStyle/>
          <a:p>
            <a:pPr marL="0" indent="0">
              <a:buNone/>
            </a:pPr>
            <a:r>
              <a:rPr lang="en-US" sz="1200" dirty="0">
                <a:solidFill>
                  <a:srgbClr val="991B1B"/>
                </a:solidFill>
                <a:latin typeface="Calibri" pitchFamily="34" charset="0"/>
                <a:ea typeface="Calibri" pitchFamily="34" charset="-122"/>
                <a:cs typeface="Calibri" pitchFamily="34" charset="-120"/>
              </a:rPr>
              <a:t>⚠️  Branche Git nommée 'principal' au lieu de 'main'</a:t>
            </a:r>
            <a:endParaRPr lang="en-US" sz="1200" dirty="0"/>
          </a:p>
        </p:txBody>
      </p:sp>
      <p:sp>
        <p:nvSpPr>
          <p:cNvPr id="11" name="Text 9"/>
          <p:cNvSpPr/>
          <p:nvPr/>
        </p:nvSpPr>
        <p:spPr>
          <a:xfrm>
            <a:off x="4297680" y="2103120"/>
            <a:ext cx="457200" cy="822960"/>
          </a:xfrm>
          <a:prstGeom prst="rect">
            <a:avLst/>
          </a:prstGeom>
          <a:noFill/>
          <a:ln/>
        </p:spPr>
        <p:txBody>
          <a:bodyPr wrap="square" rtlCol="0" anchor="ctr"/>
          <a:lstStyle/>
          <a:p>
            <a:pPr marL="0" indent="0" algn="ctr">
              <a:buNone/>
            </a:pPr>
            <a:r>
              <a:rPr lang="en-US" sz="2000" b="1" dirty="0">
                <a:solidFill>
                  <a:srgbClr val="059669"/>
                </a:solidFill>
              </a:rPr>
              <a:t>→</a:t>
            </a:r>
            <a:endParaRPr lang="en-US" sz="2000" dirty="0"/>
          </a:p>
        </p:txBody>
      </p:sp>
      <p:sp>
        <p:nvSpPr>
          <p:cNvPr id="12" name="Shape 10"/>
          <p:cNvSpPr/>
          <p:nvPr/>
        </p:nvSpPr>
        <p:spPr>
          <a:xfrm>
            <a:off x="4846320" y="2103120"/>
            <a:ext cx="3931920" cy="822960"/>
          </a:xfrm>
          <a:prstGeom prst="roundRect">
            <a:avLst>
              <a:gd name="adj" fmla="val 11111"/>
            </a:avLst>
          </a:prstGeom>
          <a:solidFill>
            <a:srgbClr val="D1FAE5"/>
          </a:solidFill>
          <a:ln w="12700">
            <a:solidFill>
              <a:srgbClr val="059669">
                <a:alpha val="60000"/>
              </a:srgbClr>
            </a:solidFill>
            <a:prstDash val="solid"/>
          </a:ln>
        </p:spPr>
      </p:sp>
      <p:sp>
        <p:nvSpPr>
          <p:cNvPr id="13" name="Text 11"/>
          <p:cNvSpPr/>
          <p:nvPr/>
        </p:nvSpPr>
        <p:spPr>
          <a:xfrm>
            <a:off x="4983480" y="2103120"/>
            <a:ext cx="3749040" cy="822960"/>
          </a:xfrm>
          <a:prstGeom prst="rect">
            <a:avLst/>
          </a:prstGeom>
          <a:noFill/>
          <a:ln/>
        </p:spPr>
        <p:txBody>
          <a:bodyPr wrap="square" rtlCol="0" anchor="ctr"/>
          <a:lstStyle/>
          <a:p>
            <a:pPr marL="0" indent="0">
              <a:buNone/>
            </a:pPr>
            <a:r>
              <a:rPr lang="en-US" sz="1100" dirty="0">
                <a:solidFill>
                  <a:srgbClr val="065F46"/>
                </a:solidFill>
                <a:latin typeface="Calibri" pitchFamily="34" charset="0"/>
                <a:ea typeface="Calibri" pitchFamily="34" charset="-122"/>
                <a:cs typeface="Calibri" pitchFamily="34" charset="-120"/>
              </a:rPr>
              <a:t>✅  Utilisation de --set-upstream et correction du remote pour le bon nom de branche</a:t>
            </a:r>
            <a:endParaRPr lang="en-US" sz="1100" dirty="0"/>
          </a:p>
        </p:txBody>
      </p:sp>
      <p:sp>
        <p:nvSpPr>
          <p:cNvPr id="14" name="Shape 12"/>
          <p:cNvSpPr/>
          <p:nvPr/>
        </p:nvSpPr>
        <p:spPr>
          <a:xfrm>
            <a:off x="274320" y="3063240"/>
            <a:ext cx="3931920" cy="822960"/>
          </a:xfrm>
          <a:prstGeom prst="roundRect">
            <a:avLst>
              <a:gd name="adj" fmla="val 11111"/>
            </a:avLst>
          </a:prstGeom>
          <a:solidFill>
            <a:srgbClr val="FEE2E2"/>
          </a:solidFill>
          <a:ln w="12700">
            <a:solidFill>
              <a:srgbClr val="EF4444">
                <a:alpha val="60000"/>
              </a:srgbClr>
            </a:solidFill>
            <a:prstDash val="solid"/>
          </a:ln>
        </p:spPr>
      </p:sp>
      <p:sp>
        <p:nvSpPr>
          <p:cNvPr id="15" name="Text 13"/>
          <p:cNvSpPr/>
          <p:nvPr/>
        </p:nvSpPr>
        <p:spPr>
          <a:xfrm>
            <a:off x="411480" y="3063240"/>
            <a:ext cx="3749040" cy="822960"/>
          </a:xfrm>
          <a:prstGeom prst="rect">
            <a:avLst/>
          </a:prstGeom>
          <a:noFill/>
          <a:ln/>
        </p:spPr>
        <p:txBody>
          <a:bodyPr wrap="square" rtlCol="0" anchor="ctr"/>
          <a:lstStyle/>
          <a:p>
            <a:pPr marL="0" indent="0">
              <a:buNone/>
            </a:pPr>
            <a:r>
              <a:rPr lang="en-US" sz="1200" dirty="0">
                <a:solidFill>
                  <a:srgbClr val="991B1B"/>
                </a:solidFill>
                <a:latin typeface="Calibri" pitchFamily="34" charset="0"/>
                <a:ea typeface="Calibri" pitchFamily="34" charset="-122"/>
                <a:cs typeface="Calibri" pitchFamily="34" charset="-120"/>
              </a:rPr>
              <a:t>⚠️  Dark mode qui se réinitialise au changement de page</a:t>
            </a:r>
            <a:endParaRPr lang="en-US" sz="1200" dirty="0"/>
          </a:p>
        </p:txBody>
      </p:sp>
      <p:sp>
        <p:nvSpPr>
          <p:cNvPr id="16" name="Text 14"/>
          <p:cNvSpPr/>
          <p:nvPr/>
        </p:nvSpPr>
        <p:spPr>
          <a:xfrm>
            <a:off x="4297680" y="3063240"/>
            <a:ext cx="457200" cy="822960"/>
          </a:xfrm>
          <a:prstGeom prst="rect">
            <a:avLst/>
          </a:prstGeom>
          <a:noFill/>
          <a:ln/>
        </p:spPr>
        <p:txBody>
          <a:bodyPr wrap="square" rtlCol="0" anchor="ctr"/>
          <a:lstStyle/>
          <a:p>
            <a:pPr marL="0" indent="0" algn="ctr">
              <a:buNone/>
            </a:pPr>
            <a:r>
              <a:rPr lang="en-US" sz="2000" b="1" dirty="0">
                <a:solidFill>
                  <a:srgbClr val="059669"/>
                </a:solidFill>
              </a:rPr>
              <a:t>→</a:t>
            </a:r>
            <a:endParaRPr lang="en-US" sz="2000" dirty="0"/>
          </a:p>
        </p:txBody>
      </p:sp>
      <p:sp>
        <p:nvSpPr>
          <p:cNvPr id="17" name="Shape 15"/>
          <p:cNvSpPr/>
          <p:nvPr/>
        </p:nvSpPr>
        <p:spPr>
          <a:xfrm>
            <a:off x="4846320" y="3063240"/>
            <a:ext cx="3931920" cy="822960"/>
          </a:xfrm>
          <a:prstGeom prst="roundRect">
            <a:avLst>
              <a:gd name="adj" fmla="val 11111"/>
            </a:avLst>
          </a:prstGeom>
          <a:solidFill>
            <a:srgbClr val="D1FAE5"/>
          </a:solidFill>
          <a:ln w="12700">
            <a:solidFill>
              <a:srgbClr val="059669">
                <a:alpha val="60000"/>
              </a:srgbClr>
            </a:solidFill>
            <a:prstDash val="solid"/>
          </a:ln>
        </p:spPr>
      </p:sp>
      <p:sp>
        <p:nvSpPr>
          <p:cNvPr id="18" name="Text 16"/>
          <p:cNvSpPr/>
          <p:nvPr/>
        </p:nvSpPr>
        <p:spPr>
          <a:xfrm>
            <a:off x="4983480" y="3063240"/>
            <a:ext cx="3749040" cy="822960"/>
          </a:xfrm>
          <a:prstGeom prst="rect">
            <a:avLst/>
          </a:prstGeom>
          <a:noFill/>
          <a:ln/>
        </p:spPr>
        <p:txBody>
          <a:bodyPr wrap="square" rtlCol="0" anchor="ctr"/>
          <a:lstStyle/>
          <a:p>
            <a:pPr marL="0" indent="0">
              <a:buNone/>
            </a:pPr>
            <a:r>
              <a:rPr lang="en-US" sz="1100" dirty="0">
                <a:solidFill>
                  <a:srgbClr val="065F46"/>
                </a:solidFill>
                <a:latin typeface="Calibri" pitchFamily="34" charset="0"/>
                <a:ea typeface="Calibri" pitchFamily="34" charset="-122"/>
                <a:cs typeface="Calibri" pitchFamily="34" charset="-120"/>
              </a:rPr>
              <a:t>✅  localStorage pour sauvegarder le thème et le relire au DOMContentLoaded de chaque page</a:t>
            </a:r>
            <a:endParaRPr lang="en-US" sz="1100" dirty="0"/>
          </a:p>
        </p:txBody>
      </p:sp>
      <p:sp>
        <p:nvSpPr>
          <p:cNvPr id="19" name="Shape 17"/>
          <p:cNvSpPr/>
          <p:nvPr/>
        </p:nvSpPr>
        <p:spPr>
          <a:xfrm>
            <a:off x="274320" y="4023360"/>
            <a:ext cx="3931920" cy="822960"/>
          </a:xfrm>
          <a:prstGeom prst="roundRect">
            <a:avLst>
              <a:gd name="adj" fmla="val 11111"/>
            </a:avLst>
          </a:prstGeom>
          <a:solidFill>
            <a:srgbClr val="FEE2E2"/>
          </a:solidFill>
          <a:ln w="12700">
            <a:solidFill>
              <a:srgbClr val="EF4444">
                <a:alpha val="60000"/>
              </a:srgbClr>
            </a:solidFill>
            <a:prstDash val="solid"/>
          </a:ln>
        </p:spPr>
      </p:sp>
      <p:sp>
        <p:nvSpPr>
          <p:cNvPr id="20" name="Text 18"/>
          <p:cNvSpPr/>
          <p:nvPr/>
        </p:nvSpPr>
        <p:spPr>
          <a:xfrm>
            <a:off x="411480" y="4023360"/>
            <a:ext cx="3749040" cy="822960"/>
          </a:xfrm>
          <a:prstGeom prst="rect">
            <a:avLst/>
          </a:prstGeom>
          <a:noFill/>
          <a:ln/>
        </p:spPr>
        <p:txBody>
          <a:bodyPr wrap="square" rtlCol="0" anchor="ctr"/>
          <a:lstStyle/>
          <a:p>
            <a:pPr marL="0" indent="0">
              <a:buNone/>
            </a:pPr>
            <a:r>
              <a:rPr lang="en-US" sz="1200" dirty="0">
                <a:solidFill>
                  <a:srgbClr val="991B1B"/>
                </a:solidFill>
                <a:latin typeface="Calibri" pitchFamily="34" charset="0"/>
                <a:ea typeface="Calibri" pitchFamily="34" charset="-122"/>
                <a:cs typeface="Calibri" pitchFamily="34" charset="-120"/>
              </a:rPr>
              <a:t>⚠️  Filtrage des freelances qui ne fonctionnait pas</a:t>
            </a:r>
            <a:endParaRPr lang="en-US" sz="1200" dirty="0"/>
          </a:p>
        </p:txBody>
      </p:sp>
      <p:sp>
        <p:nvSpPr>
          <p:cNvPr id="21" name="Text 19"/>
          <p:cNvSpPr/>
          <p:nvPr/>
        </p:nvSpPr>
        <p:spPr>
          <a:xfrm>
            <a:off x="4297680" y="4023360"/>
            <a:ext cx="457200" cy="822960"/>
          </a:xfrm>
          <a:prstGeom prst="rect">
            <a:avLst/>
          </a:prstGeom>
          <a:noFill/>
          <a:ln/>
        </p:spPr>
        <p:txBody>
          <a:bodyPr wrap="square" rtlCol="0" anchor="ctr"/>
          <a:lstStyle/>
          <a:p>
            <a:pPr marL="0" indent="0" algn="ctr">
              <a:buNone/>
            </a:pPr>
            <a:r>
              <a:rPr lang="en-US" sz="2000" b="1" dirty="0">
                <a:solidFill>
                  <a:srgbClr val="059669"/>
                </a:solidFill>
              </a:rPr>
              <a:t>→</a:t>
            </a:r>
            <a:endParaRPr lang="en-US" sz="2000" dirty="0"/>
          </a:p>
        </p:txBody>
      </p:sp>
      <p:sp>
        <p:nvSpPr>
          <p:cNvPr id="22" name="Shape 20"/>
          <p:cNvSpPr/>
          <p:nvPr/>
        </p:nvSpPr>
        <p:spPr>
          <a:xfrm>
            <a:off x="4846320" y="4023360"/>
            <a:ext cx="3931920" cy="822960"/>
          </a:xfrm>
          <a:prstGeom prst="roundRect">
            <a:avLst>
              <a:gd name="adj" fmla="val 11111"/>
            </a:avLst>
          </a:prstGeom>
          <a:solidFill>
            <a:srgbClr val="D1FAE5"/>
          </a:solidFill>
          <a:ln w="12700">
            <a:solidFill>
              <a:srgbClr val="059669">
                <a:alpha val="60000"/>
              </a:srgbClr>
            </a:solidFill>
            <a:prstDash val="solid"/>
          </a:ln>
        </p:spPr>
      </p:sp>
      <p:sp>
        <p:nvSpPr>
          <p:cNvPr id="23" name="Text 21"/>
          <p:cNvSpPr/>
          <p:nvPr/>
        </p:nvSpPr>
        <p:spPr>
          <a:xfrm>
            <a:off x="4983480" y="4023360"/>
            <a:ext cx="3749040" cy="822960"/>
          </a:xfrm>
          <a:prstGeom prst="rect">
            <a:avLst/>
          </a:prstGeom>
          <a:noFill/>
          <a:ln/>
        </p:spPr>
        <p:txBody>
          <a:bodyPr wrap="square" rtlCol="0" anchor="ctr"/>
          <a:lstStyle/>
          <a:p>
            <a:pPr marL="0" indent="0">
              <a:buNone/>
            </a:pPr>
            <a:r>
              <a:rPr lang="en-US" sz="1100" dirty="0">
                <a:solidFill>
                  <a:srgbClr val="065F46"/>
                </a:solidFill>
                <a:latin typeface="Calibri" pitchFamily="34" charset="0"/>
                <a:ea typeface="Calibri" pitchFamily="34" charset="-122"/>
                <a:cs typeface="Calibri" pitchFamily="34" charset="-120"/>
              </a:rPr>
              <a:t>✅  Correction du sélecteur data-category et ajout de toLowerCase() pour la comparaison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DF4"/>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59669"/>
          </a:solidFill>
          <a:ln w="12700">
            <a:solidFill>
              <a:srgbClr val="059669"/>
            </a:solidFill>
            <a:prstDash val="solid"/>
          </a:ln>
        </p:spPr>
      </p:sp>
      <p:sp>
        <p:nvSpPr>
          <p:cNvPr id="3" name="Text 1"/>
          <p:cNvSpPr/>
          <p:nvPr/>
        </p:nvSpPr>
        <p:spPr>
          <a:xfrm>
            <a:off x="274320" y="0"/>
            <a:ext cx="8229600" cy="10058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Résultats Obtenus</a:t>
            </a:r>
            <a:endParaRPr lang="en-US" sz="2800" dirty="0"/>
          </a:p>
        </p:txBody>
      </p:sp>
      <p:sp>
        <p:nvSpPr>
          <p:cNvPr id="4" name="Shape 2"/>
          <p:cNvSpPr/>
          <p:nvPr/>
        </p:nvSpPr>
        <p:spPr>
          <a:xfrm>
            <a:off x="274320" y="1143000"/>
            <a:ext cx="2743200" cy="1097280"/>
          </a:xfrm>
          <a:prstGeom prst="roundRect">
            <a:avLst>
              <a:gd name="adj" fmla="val 10000"/>
            </a:avLst>
          </a:prstGeom>
          <a:solidFill>
            <a:srgbClr val="FFFFFF"/>
          </a:solidFill>
          <a:ln w="12700">
            <a:solidFill>
              <a:srgbClr val="059669">
                <a:alpha val="50000"/>
              </a:srgbClr>
            </a:solidFill>
            <a:prstDash val="solid"/>
          </a:ln>
          <a:effectLst>
            <a:outerShdw blurRad="101600" dist="38100" dir="2700000" algn="bl" rotWithShape="0">
              <a:srgbClr val="000000">
                <a:alpha val="18000"/>
              </a:srgbClr>
            </a:outerShdw>
          </a:effectLst>
        </p:spPr>
      </p:sp>
      <p:sp>
        <p:nvSpPr>
          <p:cNvPr id="5" name="Text 3"/>
          <p:cNvSpPr/>
          <p:nvPr/>
        </p:nvSpPr>
        <p:spPr>
          <a:xfrm>
            <a:off x="411480" y="1280160"/>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6" name="Text 4"/>
          <p:cNvSpPr/>
          <p:nvPr/>
        </p:nvSpPr>
        <p:spPr>
          <a:xfrm>
            <a:off x="960120" y="1252728"/>
            <a:ext cx="1920240" cy="411480"/>
          </a:xfrm>
          <a:prstGeom prst="rect">
            <a:avLst/>
          </a:prstGeom>
          <a:noFill/>
          <a:ln/>
        </p:spPr>
        <p:txBody>
          <a:bodyPr wrap="square" rtlCol="0" anchor="ctr"/>
          <a:lstStyle/>
          <a:p>
            <a:pPr marL="0" indent="0">
              <a:buNone/>
            </a:pPr>
            <a:r>
              <a:rPr lang="en-US" sz="1300" b="1" dirty="0">
                <a:solidFill>
                  <a:srgbClr val="1E293B"/>
                </a:solidFill>
                <a:latin typeface="Cambria" pitchFamily="34" charset="0"/>
                <a:ea typeface="Cambria" pitchFamily="34" charset="-122"/>
                <a:cs typeface="Cambria" pitchFamily="34" charset="-120"/>
              </a:rPr>
              <a:t>Navigation complète</a:t>
            </a:r>
            <a:endParaRPr lang="en-US" sz="1300" dirty="0"/>
          </a:p>
        </p:txBody>
      </p:sp>
      <p:sp>
        <p:nvSpPr>
          <p:cNvPr id="7" name="Text 5"/>
          <p:cNvSpPr/>
          <p:nvPr/>
        </p:nvSpPr>
        <p:spPr>
          <a:xfrm>
            <a:off x="960120" y="1673352"/>
            <a:ext cx="1920240" cy="365760"/>
          </a:xfrm>
          <a:prstGeom prst="rect">
            <a:avLst/>
          </a:prstGeom>
          <a:noFill/>
          <a:ln/>
        </p:spPr>
        <p:txBody>
          <a:bodyPr wrap="square" rtlCol="0" anchor="ctr"/>
          <a:lstStyle/>
          <a:p>
            <a:pPr marL="0" indent="0">
              <a:buNone/>
            </a:pPr>
            <a:r>
              <a:rPr lang="en-US" sz="1100" dirty="0">
                <a:solidFill>
                  <a:srgbClr val="059669"/>
                </a:solidFill>
                <a:latin typeface="Calibri" pitchFamily="34" charset="0"/>
                <a:ea typeface="Calibri" pitchFamily="34" charset="-122"/>
                <a:cs typeface="Calibri" pitchFamily="34" charset="-120"/>
              </a:rPr>
              <a:t>6 pages liées</a:t>
            </a:r>
            <a:endParaRPr lang="en-US" sz="1100" dirty="0"/>
          </a:p>
        </p:txBody>
      </p:sp>
      <p:sp>
        <p:nvSpPr>
          <p:cNvPr id="8" name="Shape 6"/>
          <p:cNvSpPr/>
          <p:nvPr/>
        </p:nvSpPr>
        <p:spPr>
          <a:xfrm>
            <a:off x="3200400" y="1143000"/>
            <a:ext cx="2743200" cy="1097280"/>
          </a:xfrm>
          <a:prstGeom prst="roundRect">
            <a:avLst>
              <a:gd name="adj" fmla="val 10000"/>
            </a:avLst>
          </a:prstGeom>
          <a:solidFill>
            <a:srgbClr val="FFFFFF"/>
          </a:solidFill>
          <a:ln w="12700">
            <a:solidFill>
              <a:srgbClr val="059669">
                <a:alpha val="50000"/>
              </a:srgbClr>
            </a:solidFill>
            <a:prstDash val="solid"/>
          </a:ln>
          <a:effectLst>
            <a:outerShdw blurRad="101600" dist="38100" dir="2700000" algn="bl" rotWithShape="0">
              <a:srgbClr val="000000">
                <a:alpha val="18000"/>
              </a:srgbClr>
            </a:outerShdw>
          </a:effectLst>
        </p:spPr>
      </p:sp>
      <p:sp>
        <p:nvSpPr>
          <p:cNvPr id="9" name="Text 7"/>
          <p:cNvSpPr/>
          <p:nvPr/>
        </p:nvSpPr>
        <p:spPr>
          <a:xfrm>
            <a:off x="3337560" y="1280160"/>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3886200" y="1252728"/>
            <a:ext cx="1920240" cy="411480"/>
          </a:xfrm>
          <a:prstGeom prst="rect">
            <a:avLst/>
          </a:prstGeom>
          <a:noFill/>
          <a:ln/>
        </p:spPr>
        <p:txBody>
          <a:bodyPr wrap="square" rtlCol="0" anchor="ctr"/>
          <a:lstStyle/>
          <a:p>
            <a:pPr marL="0" indent="0">
              <a:buNone/>
            </a:pPr>
            <a:r>
              <a:rPr lang="en-US" sz="1300" b="1" dirty="0">
                <a:solidFill>
                  <a:srgbClr val="1E293B"/>
                </a:solidFill>
                <a:latin typeface="Cambria" pitchFamily="34" charset="0"/>
                <a:ea typeface="Cambria" pitchFamily="34" charset="-122"/>
                <a:cs typeface="Cambria" pitchFamily="34" charset="-120"/>
              </a:rPr>
              <a:t>Responsive Design</a:t>
            </a:r>
            <a:endParaRPr lang="en-US" sz="1300" dirty="0"/>
          </a:p>
        </p:txBody>
      </p:sp>
      <p:sp>
        <p:nvSpPr>
          <p:cNvPr id="11" name="Text 9"/>
          <p:cNvSpPr/>
          <p:nvPr/>
        </p:nvSpPr>
        <p:spPr>
          <a:xfrm>
            <a:off x="3886200" y="1673352"/>
            <a:ext cx="1920240" cy="365760"/>
          </a:xfrm>
          <a:prstGeom prst="rect">
            <a:avLst/>
          </a:prstGeom>
          <a:noFill/>
          <a:ln/>
        </p:spPr>
        <p:txBody>
          <a:bodyPr wrap="square" rtlCol="0" anchor="ctr"/>
          <a:lstStyle/>
          <a:p>
            <a:pPr marL="0" indent="0">
              <a:buNone/>
            </a:pPr>
            <a:r>
              <a:rPr lang="en-US" sz="1100" dirty="0">
                <a:solidFill>
                  <a:srgbClr val="059669"/>
                </a:solidFill>
                <a:latin typeface="Calibri" pitchFamily="34" charset="0"/>
                <a:ea typeface="Calibri" pitchFamily="34" charset="-122"/>
                <a:cs typeface="Calibri" pitchFamily="34" charset="-120"/>
              </a:rPr>
              <a:t>Mobile · Tablette · Desktop</a:t>
            </a:r>
            <a:endParaRPr lang="en-US" sz="1100" dirty="0"/>
          </a:p>
        </p:txBody>
      </p:sp>
      <p:sp>
        <p:nvSpPr>
          <p:cNvPr id="12" name="Shape 10"/>
          <p:cNvSpPr/>
          <p:nvPr/>
        </p:nvSpPr>
        <p:spPr>
          <a:xfrm>
            <a:off x="6126480" y="1143000"/>
            <a:ext cx="2743200" cy="1097280"/>
          </a:xfrm>
          <a:prstGeom prst="roundRect">
            <a:avLst>
              <a:gd name="adj" fmla="val 10000"/>
            </a:avLst>
          </a:prstGeom>
          <a:solidFill>
            <a:srgbClr val="FFFFFF"/>
          </a:solidFill>
          <a:ln w="12700">
            <a:solidFill>
              <a:srgbClr val="059669">
                <a:alpha val="50000"/>
              </a:srgbClr>
            </a:solidFill>
            <a:prstDash val="solid"/>
          </a:ln>
          <a:effectLst>
            <a:outerShdw blurRad="101600" dist="38100" dir="2700000" algn="bl" rotWithShape="0">
              <a:srgbClr val="000000">
                <a:alpha val="18000"/>
              </a:srgbClr>
            </a:outerShdw>
          </a:effectLst>
        </p:spPr>
      </p:sp>
      <p:sp>
        <p:nvSpPr>
          <p:cNvPr id="13" name="Text 11"/>
          <p:cNvSpPr/>
          <p:nvPr/>
        </p:nvSpPr>
        <p:spPr>
          <a:xfrm>
            <a:off x="6263640" y="1280160"/>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6812280" y="1252728"/>
            <a:ext cx="1920240" cy="411480"/>
          </a:xfrm>
          <a:prstGeom prst="rect">
            <a:avLst/>
          </a:prstGeom>
          <a:noFill/>
          <a:ln/>
        </p:spPr>
        <p:txBody>
          <a:bodyPr wrap="square" rtlCol="0" anchor="ctr"/>
          <a:lstStyle/>
          <a:p>
            <a:pPr marL="0" indent="0">
              <a:buNone/>
            </a:pPr>
            <a:r>
              <a:rPr lang="en-US" sz="1300" b="1" dirty="0">
                <a:solidFill>
                  <a:srgbClr val="1E293B"/>
                </a:solidFill>
                <a:latin typeface="Cambria" pitchFamily="34" charset="0"/>
                <a:ea typeface="Cambria" pitchFamily="34" charset="-122"/>
                <a:cs typeface="Cambria" pitchFamily="34" charset="-120"/>
              </a:rPr>
              <a:t>Dark Mode</a:t>
            </a:r>
            <a:endParaRPr lang="en-US" sz="1300" dirty="0"/>
          </a:p>
        </p:txBody>
      </p:sp>
      <p:sp>
        <p:nvSpPr>
          <p:cNvPr id="15" name="Text 13"/>
          <p:cNvSpPr/>
          <p:nvPr/>
        </p:nvSpPr>
        <p:spPr>
          <a:xfrm>
            <a:off x="6812280" y="1673352"/>
            <a:ext cx="1920240" cy="365760"/>
          </a:xfrm>
          <a:prstGeom prst="rect">
            <a:avLst/>
          </a:prstGeom>
          <a:noFill/>
          <a:ln/>
        </p:spPr>
        <p:txBody>
          <a:bodyPr wrap="square" rtlCol="0" anchor="ctr"/>
          <a:lstStyle/>
          <a:p>
            <a:pPr marL="0" indent="0">
              <a:buNone/>
            </a:pPr>
            <a:r>
              <a:rPr lang="en-US" sz="1100" dirty="0">
                <a:solidFill>
                  <a:srgbClr val="059669"/>
                </a:solidFill>
                <a:latin typeface="Calibri" pitchFamily="34" charset="0"/>
                <a:ea typeface="Calibri" pitchFamily="34" charset="-122"/>
                <a:cs typeface="Calibri" pitchFamily="34" charset="-120"/>
              </a:rPr>
              <a:t>localStorage + toggle</a:t>
            </a:r>
            <a:endParaRPr lang="en-US" sz="1100" dirty="0"/>
          </a:p>
        </p:txBody>
      </p:sp>
      <p:sp>
        <p:nvSpPr>
          <p:cNvPr id="16" name="Shape 14"/>
          <p:cNvSpPr/>
          <p:nvPr/>
        </p:nvSpPr>
        <p:spPr>
          <a:xfrm>
            <a:off x="274320" y="2423160"/>
            <a:ext cx="2743200" cy="1097280"/>
          </a:xfrm>
          <a:prstGeom prst="roundRect">
            <a:avLst>
              <a:gd name="adj" fmla="val 10000"/>
            </a:avLst>
          </a:prstGeom>
          <a:solidFill>
            <a:srgbClr val="FFFFFF"/>
          </a:solidFill>
          <a:ln w="12700">
            <a:solidFill>
              <a:srgbClr val="059669">
                <a:alpha val="50000"/>
              </a:srgbClr>
            </a:solidFill>
            <a:prstDash val="solid"/>
          </a:ln>
          <a:effectLst>
            <a:outerShdw blurRad="101600" dist="38100" dir="2700000" algn="bl" rotWithShape="0">
              <a:srgbClr val="000000">
                <a:alpha val="18000"/>
              </a:srgbClr>
            </a:outerShdw>
          </a:effectLst>
        </p:spPr>
      </p:sp>
      <p:sp>
        <p:nvSpPr>
          <p:cNvPr id="17" name="Text 15"/>
          <p:cNvSpPr/>
          <p:nvPr/>
        </p:nvSpPr>
        <p:spPr>
          <a:xfrm>
            <a:off x="411480" y="2560320"/>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960120" y="2532888"/>
            <a:ext cx="1920240" cy="411480"/>
          </a:xfrm>
          <a:prstGeom prst="rect">
            <a:avLst/>
          </a:prstGeom>
          <a:noFill/>
          <a:ln/>
        </p:spPr>
        <p:txBody>
          <a:bodyPr wrap="square" rtlCol="0" anchor="ctr"/>
          <a:lstStyle/>
          <a:p>
            <a:pPr marL="0" indent="0">
              <a:buNone/>
            </a:pPr>
            <a:r>
              <a:rPr lang="en-US" sz="1300" b="1" dirty="0">
                <a:solidFill>
                  <a:srgbClr val="1E293B"/>
                </a:solidFill>
                <a:latin typeface="Cambria" pitchFamily="34" charset="0"/>
                <a:ea typeface="Cambria" pitchFamily="34" charset="-122"/>
                <a:cs typeface="Cambria" pitchFamily="34" charset="-120"/>
              </a:rPr>
              <a:t>Filtrage JS</a:t>
            </a:r>
            <a:endParaRPr lang="en-US" sz="1300" dirty="0"/>
          </a:p>
        </p:txBody>
      </p:sp>
      <p:sp>
        <p:nvSpPr>
          <p:cNvPr id="19" name="Text 17"/>
          <p:cNvSpPr/>
          <p:nvPr/>
        </p:nvSpPr>
        <p:spPr>
          <a:xfrm>
            <a:off x="960120" y="2953512"/>
            <a:ext cx="1920240" cy="365760"/>
          </a:xfrm>
          <a:prstGeom prst="rect">
            <a:avLst/>
          </a:prstGeom>
          <a:noFill/>
          <a:ln/>
        </p:spPr>
        <p:txBody>
          <a:bodyPr wrap="square" rtlCol="0" anchor="ctr"/>
          <a:lstStyle/>
          <a:p>
            <a:pPr marL="0" indent="0">
              <a:buNone/>
            </a:pPr>
            <a:r>
              <a:rPr lang="en-US" sz="1100" dirty="0">
                <a:solidFill>
                  <a:srgbClr val="059669"/>
                </a:solidFill>
                <a:latin typeface="Calibri" pitchFamily="34" charset="0"/>
                <a:ea typeface="Calibri" pitchFamily="34" charset="-122"/>
                <a:cs typeface="Calibri" pitchFamily="34" charset="-120"/>
              </a:rPr>
              <a:t>Dynamique par catégorie</a:t>
            </a:r>
            <a:endParaRPr lang="en-US" sz="1100" dirty="0"/>
          </a:p>
        </p:txBody>
      </p:sp>
      <p:sp>
        <p:nvSpPr>
          <p:cNvPr id="20" name="Shape 18"/>
          <p:cNvSpPr/>
          <p:nvPr/>
        </p:nvSpPr>
        <p:spPr>
          <a:xfrm>
            <a:off x="3200400" y="2423160"/>
            <a:ext cx="2743200" cy="1097280"/>
          </a:xfrm>
          <a:prstGeom prst="roundRect">
            <a:avLst>
              <a:gd name="adj" fmla="val 10000"/>
            </a:avLst>
          </a:prstGeom>
          <a:solidFill>
            <a:srgbClr val="FFFFFF"/>
          </a:solidFill>
          <a:ln w="12700">
            <a:solidFill>
              <a:srgbClr val="059669">
                <a:alpha val="50000"/>
              </a:srgbClr>
            </a:solidFill>
            <a:prstDash val="solid"/>
          </a:ln>
          <a:effectLst>
            <a:outerShdw blurRad="101600" dist="38100" dir="2700000" algn="bl" rotWithShape="0">
              <a:srgbClr val="000000">
                <a:alpha val="18000"/>
              </a:srgbClr>
            </a:outerShdw>
          </a:effectLst>
        </p:spPr>
      </p:sp>
      <p:sp>
        <p:nvSpPr>
          <p:cNvPr id="21" name="Text 19"/>
          <p:cNvSpPr/>
          <p:nvPr/>
        </p:nvSpPr>
        <p:spPr>
          <a:xfrm>
            <a:off x="3337560" y="2560320"/>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3886200" y="2532888"/>
            <a:ext cx="1920240" cy="411480"/>
          </a:xfrm>
          <a:prstGeom prst="rect">
            <a:avLst/>
          </a:prstGeom>
          <a:noFill/>
          <a:ln/>
        </p:spPr>
        <p:txBody>
          <a:bodyPr wrap="square" rtlCol="0" anchor="ctr"/>
          <a:lstStyle/>
          <a:p>
            <a:pPr marL="0" indent="0">
              <a:buNone/>
            </a:pPr>
            <a:r>
              <a:rPr lang="en-US" sz="1300" b="1" dirty="0">
                <a:solidFill>
                  <a:srgbClr val="1E293B"/>
                </a:solidFill>
                <a:latin typeface="Cambria" pitchFamily="34" charset="0"/>
                <a:ea typeface="Cambria" pitchFamily="34" charset="-122"/>
                <a:cs typeface="Cambria" pitchFamily="34" charset="-120"/>
              </a:rPr>
              <a:t>Formulaire contact</a:t>
            </a:r>
            <a:endParaRPr lang="en-US" sz="1300" dirty="0"/>
          </a:p>
        </p:txBody>
      </p:sp>
      <p:sp>
        <p:nvSpPr>
          <p:cNvPr id="23" name="Text 21"/>
          <p:cNvSpPr/>
          <p:nvPr/>
        </p:nvSpPr>
        <p:spPr>
          <a:xfrm>
            <a:off x="3886200" y="2953512"/>
            <a:ext cx="1920240" cy="365760"/>
          </a:xfrm>
          <a:prstGeom prst="rect">
            <a:avLst/>
          </a:prstGeom>
          <a:noFill/>
          <a:ln/>
        </p:spPr>
        <p:txBody>
          <a:bodyPr wrap="square" rtlCol="0" anchor="ctr"/>
          <a:lstStyle/>
          <a:p>
            <a:pPr marL="0" indent="0">
              <a:buNone/>
            </a:pPr>
            <a:r>
              <a:rPr lang="en-US" sz="1100" dirty="0">
                <a:solidFill>
                  <a:srgbClr val="059669"/>
                </a:solidFill>
                <a:latin typeface="Calibri" pitchFamily="34" charset="0"/>
                <a:ea typeface="Calibri" pitchFamily="34" charset="-122"/>
                <a:cs typeface="Calibri" pitchFamily="34" charset="-120"/>
              </a:rPr>
              <a:t>Validation + messages</a:t>
            </a:r>
            <a:endParaRPr lang="en-US" sz="1100" dirty="0"/>
          </a:p>
        </p:txBody>
      </p:sp>
      <p:sp>
        <p:nvSpPr>
          <p:cNvPr id="24" name="Shape 22"/>
          <p:cNvSpPr/>
          <p:nvPr/>
        </p:nvSpPr>
        <p:spPr>
          <a:xfrm>
            <a:off x="6126480" y="2423160"/>
            <a:ext cx="2743200" cy="1097280"/>
          </a:xfrm>
          <a:prstGeom prst="roundRect">
            <a:avLst>
              <a:gd name="adj" fmla="val 10000"/>
            </a:avLst>
          </a:prstGeom>
          <a:solidFill>
            <a:srgbClr val="FFFFFF"/>
          </a:solidFill>
          <a:ln w="12700">
            <a:solidFill>
              <a:srgbClr val="059669">
                <a:alpha val="50000"/>
              </a:srgbClr>
            </a:solidFill>
            <a:prstDash val="solid"/>
          </a:ln>
          <a:effectLst>
            <a:outerShdw blurRad="101600" dist="38100" dir="2700000" algn="bl" rotWithShape="0">
              <a:srgbClr val="000000">
                <a:alpha val="18000"/>
              </a:srgbClr>
            </a:outerShdw>
          </a:effectLst>
        </p:spPr>
      </p:sp>
      <p:sp>
        <p:nvSpPr>
          <p:cNvPr id="25" name="Text 23"/>
          <p:cNvSpPr/>
          <p:nvPr/>
        </p:nvSpPr>
        <p:spPr>
          <a:xfrm>
            <a:off x="6263640" y="2560320"/>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6" name="Text 24"/>
          <p:cNvSpPr/>
          <p:nvPr/>
        </p:nvSpPr>
        <p:spPr>
          <a:xfrm>
            <a:off x="6812280" y="2532888"/>
            <a:ext cx="1920240" cy="411480"/>
          </a:xfrm>
          <a:prstGeom prst="rect">
            <a:avLst/>
          </a:prstGeom>
          <a:noFill/>
          <a:ln/>
        </p:spPr>
        <p:txBody>
          <a:bodyPr wrap="square" rtlCol="0" anchor="ctr"/>
          <a:lstStyle/>
          <a:p>
            <a:pPr marL="0" indent="0">
              <a:buNone/>
            </a:pPr>
            <a:r>
              <a:rPr lang="en-US" sz="1300" b="1" dirty="0">
                <a:solidFill>
                  <a:srgbClr val="1E293B"/>
                </a:solidFill>
                <a:latin typeface="Cambria" pitchFamily="34" charset="0"/>
                <a:ea typeface="Cambria" pitchFamily="34" charset="-122"/>
                <a:cs typeface="Cambria" pitchFamily="34" charset="-120"/>
              </a:rPr>
              <a:t>Animations scroll</a:t>
            </a:r>
            <a:endParaRPr lang="en-US" sz="1300" dirty="0"/>
          </a:p>
        </p:txBody>
      </p:sp>
      <p:sp>
        <p:nvSpPr>
          <p:cNvPr id="27" name="Text 25"/>
          <p:cNvSpPr/>
          <p:nvPr/>
        </p:nvSpPr>
        <p:spPr>
          <a:xfrm>
            <a:off x="6812280" y="2953512"/>
            <a:ext cx="1920240" cy="365760"/>
          </a:xfrm>
          <a:prstGeom prst="rect">
            <a:avLst/>
          </a:prstGeom>
          <a:noFill/>
          <a:ln/>
        </p:spPr>
        <p:txBody>
          <a:bodyPr wrap="square" rtlCol="0" anchor="ctr"/>
          <a:lstStyle/>
          <a:p>
            <a:pPr marL="0" indent="0">
              <a:buNone/>
            </a:pPr>
            <a:r>
              <a:rPr lang="en-US" sz="1100" dirty="0">
                <a:solidFill>
                  <a:srgbClr val="059669"/>
                </a:solidFill>
                <a:latin typeface="Calibri" pitchFamily="34" charset="0"/>
                <a:ea typeface="Calibri" pitchFamily="34" charset="-122"/>
                <a:cs typeface="Calibri" pitchFamily="34" charset="-120"/>
              </a:rPr>
              <a:t>IntersectionObserver</a:t>
            </a:r>
            <a:endParaRPr lang="en-US" sz="1100" dirty="0"/>
          </a:p>
        </p:txBody>
      </p:sp>
      <p:sp>
        <p:nvSpPr>
          <p:cNvPr id="28" name="Shape 26"/>
          <p:cNvSpPr/>
          <p:nvPr/>
        </p:nvSpPr>
        <p:spPr>
          <a:xfrm>
            <a:off x="274320" y="3703320"/>
            <a:ext cx="2743200" cy="1097280"/>
          </a:xfrm>
          <a:prstGeom prst="roundRect">
            <a:avLst>
              <a:gd name="adj" fmla="val 10000"/>
            </a:avLst>
          </a:prstGeom>
          <a:solidFill>
            <a:srgbClr val="FFFFFF"/>
          </a:solidFill>
          <a:ln w="12700">
            <a:solidFill>
              <a:srgbClr val="059669">
                <a:alpha val="50000"/>
              </a:srgbClr>
            </a:solidFill>
            <a:prstDash val="solid"/>
          </a:ln>
          <a:effectLst>
            <a:outerShdw blurRad="101600" dist="38100" dir="2700000" algn="bl" rotWithShape="0">
              <a:srgbClr val="000000">
                <a:alpha val="18000"/>
              </a:srgbClr>
            </a:outerShdw>
          </a:effectLst>
        </p:spPr>
      </p:sp>
      <p:sp>
        <p:nvSpPr>
          <p:cNvPr id="29" name="Text 27"/>
          <p:cNvSpPr/>
          <p:nvPr/>
        </p:nvSpPr>
        <p:spPr>
          <a:xfrm>
            <a:off x="411480" y="3840480"/>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0" name="Text 28"/>
          <p:cNvSpPr/>
          <p:nvPr/>
        </p:nvSpPr>
        <p:spPr>
          <a:xfrm>
            <a:off x="960120" y="3813048"/>
            <a:ext cx="1920240" cy="411480"/>
          </a:xfrm>
          <a:prstGeom prst="rect">
            <a:avLst/>
          </a:prstGeom>
          <a:noFill/>
          <a:ln/>
        </p:spPr>
        <p:txBody>
          <a:bodyPr wrap="square" rtlCol="0" anchor="ctr"/>
          <a:lstStyle/>
          <a:p>
            <a:pPr marL="0" indent="0">
              <a:buNone/>
            </a:pPr>
            <a:r>
              <a:rPr lang="en-US" sz="1300" b="1" dirty="0">
                <a:solidFill>
                  <a:srgbClr val="1E293B"/>
                </a:solidFill>
                <a:latin typeface="Cambria" pitchFamily="34" charset="0"/>
                <a:ea typeface="Cambria" pitchFamily="34" charset="-122"/>
                <a:cs typeface="Cambria" pitchFamily="34" charset="-120"/>
              </a:rPr>
              <a:t>FAQ accordéon</a:t>
            </a:r>
            <a:endParaRPr lang="en-US" sz="1300" dirty="0"/>
          </a:p>
        </p:txBody>
      </p:sp>
      <p:sp>
        <p:nvSpPr>
          <p:cNvPr id="31" name="Text 29"/>
          <p:cNvSpPr/>
          <p:nvPr/>
        </p:nvSpPr>
        <p:spPr>
          <a:xfrm>
            <a:off x="960120" y="4233672"/>
            <a:ext cx="1920240" cy="365760"/>
          </a:xfrm>
          <a:prstGeom prst="rect">
            <a:avLst/>
          </a:prstGeom>
          <a:noFill/>
          <a:ln/>
        </p:spPr>
        <p:txBody>
          <a:bodyPr wrap="square" rtlCol="0" anchor="ctr"/>
          <a:lstStyle/>
          <a:p>
            <a:pPr marL="0" indent="0">
              <a:buNone/>
            </a:pPr>
            <a:r>
              <a:rPr lang="en-US" sz="1100" dirty="0">
                <a:solidFill>
                  <a:srgbClr val="059669"/>
                </a:solidFill>
                <a:latin typeface="Calibri" pitchFamily="34" charset="0"/>
                <a:ea typeface="Calibri" pitchFamily="34" charset="-122"/>
                <a:cs typeface="Calibri" pitchFamily="34" charset="-120"/>
              </a:rPr>
              <a:t>Bootstrap + JS</a:t>
            </a:r>
            <a:endParaRPr lang="en-US" sz="1100" dirty="0"/>
          </a:p>
        </p:txBody>
      </p:sp>
      <p:sp>
        <p:nvSpPr>
          <p:cNvPr id="32" name="Shape 30"/>
          <p:cNvSpPr/>
          <p:nvPr/>
        </p:nvSpPr>
        <p:spPr>
          <a:xfrm>
            <a:off x="3200400" y="3703320"/>
            <a:ext cx="2743200" cy="1097280"/>
          </a:xfrm>
          <a:prstGeom prst="roundRect">
            <a:avLst>
              <a:gd name="adj" fmla="val 10000"/>
            </a:avLst>
          </a:prstGeom>
          <a:solidFill>
            <a:srgbClr val="FFFFFF"/>
          </a:solidFill>
          <a:ln w="12700">
            <a:solidFill>
              <a:srgbClr val="059669">
                <a:alpha val="50000"/>
              </a:srgbClr>
            </a:solidFill>
            <a:prstDash val="solid"/>
          </a:ln>
          <a:effectLst>
            <a:outerShdw blurRad="101600" dist="38100" dir="2700000" algn="bl" rotWithShape="0">
              <a:srgbClr val="000000">
                <a:alpha val="18000"/>
              </a:srgbClr>
            </a:outerShdw>
          </a:effectLst>
        </p:spPr>
      </p:sp>
      <p:sp>
        <p:nvSpPr>
          <p:cNvPr id="33" name="Text 31"/>
          <p:cNvSpPr/>
          <p:nvPr/>
        </p:nvSpPr>
        <p:spPr>
          <a:xfrm>
            <a:off x="3337560" y="3840480"/>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4" name="Text 32"/>
          <p:cNvSpPr/>
          <p:nvPr/>
        </p:nvSpPr>
        <p:spPr>
          <a:xfrm>
            <a:off x="3886200" y="3813048"/>
            <a:ext cx="1920240" cy="411480"/>
          </a:xfrm>
          <a:prstGeom prst="rect">
            <a:avLst/>
          </a:prstGeom>
          <a:noFill/>
          <a:ln/>
        </p:spPr>
        <p:txBody>
          <a:bodyPr wrap="square" rtlCol="0" anchor="ctr"/>
          <a:lstStyle/>
          <a:p>
            <a:pPr marL="0" indent="0">
              <a:buNone/>
            </a:pPr>
            <a:r>
              <a:rPr lang="en-US" sz="1300" b="1" dirty="0">
                <a:solidFill>
                  <a:srgbClr val="1E293B"/>
                </a:solidFill>
                <a:latin typeface="Cambria" pitchFamily="34" charset="0"/>
                <a:ea typeface="Cambria" pitchFamily="34" charset="-122"/>
                <a:cs typeface="Cambria" pitchFamily="34" charset="-120"/>
              </a:rPr>
              <a:t>Carousel témoignages</a:t>
            </a:r>
            <a:endParaRPr lang="en-US" sz="1300" dirty="0"/>
          </a:p>
        </p:txBody>
      </p:sp>
      <p:sp>
        <p:nvSpPr>
          <p:cNvPr id="35" name="Text 33"/>
          <p:cNvSpPr/>
          <p:nvPr/>
        </p:nvSpPr>
        <p:spPr>
          <a:xfrm>
            <a:off x="3886200" y="4233672"/>
            <a:ext cx="1920240" cy="365760"/>
          </a:xfrm>
          <a:prstGeom prst="rect">
            <a:avLst/>
          </a:prstGeom>
          <a:noFill/>
          <a:ln/>
        </p:spPr>
        <p:txBody>
          <a:bodyPr wrap="square" rtlCol="0" anchor="ctr"/>
          <a:lstStyle/>
          <a:p>
            <a:pPr marL="0" indent="0">
              <a:buNone/>
            </a:pPr>
            <a:r>
              <a:rPr lang="en-US" sz="1100" dirty="0">
                <a:solidFill>
                  <a:srgbClr val="059669"/>
                </a:solidFill>
                <a:latin typeface="Calibri" pitchFamily="34" charset="0"/>
                <a:ea typeface="Calibri" pitchFamily="34" charset="-122"/>
                <a:cs typeface="Calibri" pitchFamily="34" charset="-120"/>
              </a:rPr>
              <a:t>Bootstrap Carousel</a:t>
            </a:r>
            <a:endParaRPr lang="en-US" sz="1100" dirty="0"/>
          </a:p>
        </p:txBody>
      </p:sp>
      <p:sp>
        <p:nvSpPr>
          <p:cNvPr id="36" name="Shape 34"/>
          <p:cNvSpPr/>
          <p:nvPr/>
        </p:nvSpPr>
        <p:spPr>
          <a:xfrm>
            <a:off x="6126480" y="3703320"/>
            <a:ext cx="2743200" cy="1097280"/>
          </a:xfrm>
          <a:prstGeom prst="roundRect">
            <a:avLst>
              <a:gd name="adj" fmla="val 10000"/>
            </a:avLst>
          </a:prstGeom>
          <a:solidFill>
            <a:srgbClr val="FFFFFF"/>
          </a:solidFill>
          <a:ln w="12700">
            <a:solidFill>
              <a:srgbClr val="059669">
                <a:alpha val="50000"/>
              </a:srgbClr>
            </a:solidFill>
            <a:prstDash val="solid"/>
          </a:ln>
          <a:effectLst>
            <a:outerShdw blurRad="101600" dist="38100" dir="2700000" algn="bl" rotWithShape="0">
              <a:srgbClr val="000000">
                <a:alpha val="18000"/>
              </a:srgbClr>
            </a:outerShdw>
          </a:effectLst>
        </p:spPr>
      </p:sp>
      <p:sp>
        <p:nvSpPr>
          <p:cNvPr id="37" name="Text 35"/>
          <p:cNvSpPr/>
          <p:nvPr/>
        </p:nvSpPr>
        <p:spPr>
          <a:xfrm>
            <a:off x="6263640" y="3840480"/>
            <a:ext cx="50292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8" name="Text 36"/>
          <p:cNvSpPr/>
          <p:nvPr/>
        </p:nvSpPr>
        <p:spPr>
          <a:xfrm>
            <a:off x="6812280" y="3813048"/>
            <a:ext cx="1920240" cy="411480"/>
          </a:xfrm>
          <a:prstGeom prst="rect">
            <a:avLst/>
          </a:prstGeom>
          <a:noFill/>
          <a:ln/>
        </p:spPr>
        <p:txBody>
          <a:bodyPr wrap="square" rtlCol="0" anchor="ctr"/>
          <a:lstStyle/>
          <a:p>
            <a:pPr marL="0" indent="0">
              <a:buNone/>
            </a:pPr>
            <a:r>
              <a:rPr lang="en-US" sz="1300" b="1" dirty="0">
                <a:solidFill>
                  <a:srgbClr val="1E293B"/>
                </a:solidFill>
                <a:latin typeface="Cambria" pitchFamily="34" charset="0"/>
                <a:ea typeface="Cambria" pitchFamily="34" charset="-122"/>
                <a:cs typeface="Cambria" pitchFamily="34" charset="-120"/>
              </a:rPr>
              <a:t>Identité AfriTalent</a:t>
            </a:r>
            <a:endParaRPr lang="en-US" sz="1300" dirty="0"/>
          </a:p>
        </p:txBody>
      </p:sp>
      <p:sp>
        <p:nvSpPr>
          <p:cNvPr id="39" name="Text 37"/>
          <p:cNvSpPr/>
          <p:nvPr/>
        </p:nvSpPr>
        <p:spPr>
          <a:xfrm>
            <a:off x="6812280" y="4233672"/>
            <a:ext cx="1920240" cy="365760"/>
          </a:xfrm>
          <a:prstGeom prst="rect">
            <a:avLst/>
          </a:prstGeom>
          <a:noFill/>
          <a:ln/>
        </p:spPr>
        <p:txBody>
          <a:bodyPr wrap="square" rtlCol="0" anchor="ctr"/>
          <a:lstStyle/>
          <a:p>
            <a:pPr marL="0" indent="0">
              <a:buNone/>
            </a:pPr>
            <a:r>
              <a:rPr lang="en-US" sz="1100" dirty="0">
                <a:solidFill>
                  <a:srgbClr val="059669"/>
                </a:solidFill>
                <a:latin typeface="Calibri" pitchFamily="34" charset="0"/>
                <a:ea typeface="Calibri" pitchFamily="34" charset="-122"/>
                <a:cs typeface="Calibri" pitchFamily="34" charset="-120"/>
              </a:rPr>
              <a:t>Logo + palette + typo</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7C3AED">
              <a:alpha val="18000"/>
            </a:srgbClr>
          </a:solidFill>
          <a:ln w="12700">
            <a:solidFill>
              <a:srgbClr val="7C3AED">
                <a:alpha val="18000"/>
              </a:srgbClr>
            </a:solidFill>
            <a:prstDash val="solid"/>
          </a:ln>
        </p:spPr>
      </p:sp>
      <p:sp>
        <p:nvSpPr>
          <p:cNvPr id="3" name="Shape 1"/>
          <p:cNvSpPr/>
          <p:nvPr/>
        </p:nvSpPr>
        <p:spPr>
          <a:xfrm>
            <a:off x="6858000" y="2743200"/>
            <a:ext cx="3657600" cy="3657600"/>
          </a:xfrm>
          <a:prstGeom prst="ellipse">
            <a:avLst/>
          </a:prstGeom>
          <a:solidFill>
            <a:srgbClr val="F97316">
              <a:alpha val="18000"/>
            </a:srgbClr>
          </a:solidFill>
          <a:ln w="12700">
            <a:solidFill>
              <a:srgbClr val="F97316">
                <a:alpha val="18000"/>
              </a:srgbClr>
            </a:solidFill>
            <a:prstDash val="solid"/>
          </a:ln>
        </p:spPr>
      </p:sp>
      <p:sp>
        <p:nvSpPr>
          <p:cNvPr id="4" name="Text 2"/>
          <p:cNvSpPr/>
          <p:nvPr/>
        </p:nvSpPr>
        <p:spPr>
          <a:xfrm>
            <a:off x="457200" y="182880"/>
            <a:ext cx="8229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Conclusion &amp; Perspectives</a:t>
            </a:r>
            <a:endParaRPr lang="en-US" sz="2800" dirty="0"/>
          </a:p>
        </p:txBody>
      </p:sp>
      <p:sp>
        <p:nvSpPr>
          <p:cNvPr id="5" name="Shape 3"/>
          <p:cNvSpPr/>
          <p:nvPr/>
        </p:nvSpPr>
        <p:spPr>
          <a:xfrm>
            <a:off x="457200" y="868680"/>
            <a:ext cx="2286000" cy="54864"/>
          </a:xfrm>
          <a:prstGeom prst="rect">
            <a:avLst/>
          </a:prstGeom>
          <a:solidFill>
            <a:srgbClr val="F97316"/>
          </a:solidFill>
          <a:ln w="12700">
            <a:solidFill>
              <a:srgbClr val="F97316"/>
            </a:solidFill>
            <a:prstDash val="solid"/>
          </a:ln>
        </p:spPr>
      </p:sp>
      <p:sp>
        <p:nvSpPr>
          <p:cNvPr id="6" name="Shape 4"/>
          <p:cNvSpPr/>
          <p:nvPr/>
        </p:nvSpPr>
        <p:spPr>
          <a:xfrm>
            <a:off x="274320" y="1051560"/>
            <a:ext cx="5029200" cy="1828800"/>
          </a:xfrm>
          <a:prstGeom prst="roundRect">
            <a:avLst>
              <a:gd name="adj" fmla="val 7500"/>
            </a:avLst>
          </a:prstGeom>
          <a:solidFill>
            <a:srgbClr val="1A2744"/>
          </a:solidFill>
          <a:ln w="12700">
            <a:solidFill>
              <a:srgbClr val="0D9488">
                <a:alpha val="50000"/>
              </a:srgbClr>
            </a:solidFill>
            <a:prstDash val="solid"/>
          </a:ln>
          <a:effectLst>
            <a:outerShdw blurRad="101600" dist="38100" dir="2700000" algn="bl" rotWithShape="0">
              <a:srgbClr val="000000">
                <a:alpha val="18000"/>
              </a:srgbClr>
            </a:outerShdw>
          </a:effectLst>
        </p:spPr>
      </p:sp>
      <p:sp>
        <p:nvSpPr>
          <p:cNvPr id="7" name="Text 5"/>
          <p:cNvSpPr/>
          <p:nvPr/>
        </p:nvSpPr>
        <p:spPr>
          <a:xfrm>
            <a:off x="457200" y="1143000"/>
            <a:ext cx="4663440" cy="411480"/>
          </a:xfrm>
          <a:prstGeom prst="rect">
            <a:avLst/>
          </a:prstGeom>
          <a:noFill/>
          <a:ln/>
        </p:spPr>
        <p:txBody>
          <a:bodyPr wrap="square" rtlCol="0" anchor="ctr"/>
          <a:lstStyle/>
          <a:p>
            <a:pPr marL="0" indent="0">
              <a:buNone/>
            </a:pPr>
            <a:r>
              <a:rPr lang="en-US" sz="1500" b="1" dirty="0">
                <a:solidFill>
                  <a:srgbClr val="0D9488"/>
                </a:solidFill>
                <a:latin typeface="Cambria" pitchFamily="34" charset="0"/>
                <a:ea typeface="Cambria" pitchFamily="34" charset="-122"/>
                <a:cs typeface="Cambria" pitchFamily="34" charset="-120"/>
              </a:rPr>
              <a:t>✅  Bilan du projet</a:t>
            </a:r>
            <a:endParaRPr lang="en-US" sz="1500" dirty="0"/>
          </a:p>
        </p:txBody>
      </p:sp>
      <p:sp>
        <p:nvSpPr>
          <p:cNvPr id="8" name="Text 6"/>
          <p:cNvSpPr/>
          <p:nvPr/>
        </p:nvSpPr>
        <p:spPr>
          <a:xfrm>
            <a:off x="457200" y="1572768"/>
            <a:ext cx="4663440" cy="118872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AfriTalent est une plateforme freelance moderne, responsive et interactive, développée avec HTML5, CSS3, JavaScript et Bootstrap 5. Le projet répond pleinement aux exigences du cahier des charges avec une interface soignée et une expérience utilisateur optimisée.</a:t>
            </a:r>
            <a:endParaRPr lang="en-US" sz="1200" dirty="0"/>
          </a:p>
        </p:txBody>
      </p:sp>
      <p:sp>
        <p:nvSpPr>
          <p:cNvPr id="9" name="Shape 7"/>
          <p:cNvSpPr/>
          <p:nvPr/>
        </p:nvSpPr>
        <p:spPr>
          <a:xfrm>
            <a:off x="274320" y="3017520"/>
            <a:ext cx="5029200" cy="1783080"/>
          </a:xfrm>
          <a:prstGeom prst="roundRect">
            <a:avLst>
              <a:gd name="adj" fmla="val 7692"/>
            </a:avLst>
          </a:prstGeom>
          <a:solidFill>
            <a:srgbClr val="1A2744"/>
          </a:solidFill>
          <a:ln w="12700">
            <a:solidFill>
              <a:srgbClr val="7C3AED">
                <a:alpha val="50000"/>
              </a:srgbClr>
            </a:solidFill>
            <a:prstDash val="solid"/>
          </a:ln>
          <a:effectLst>
            <a:outerShdw blurRad="101600" dist="38100" dir="2700000" algn="bl" rotWithShape="0">
              <a:srgbClr val="000000">
                <a:alpha val="18000"/>
              </a:srgbClr>
            </a:outerShdw>
          </a:effectLst>
        </p:spPr>
      </p:sp>
      <p:sp>
        <p:nvSpPr>
          <p:cNvPr id="10" name="Text 8"/>
          <p:cNvSpPr/>
          <p:nvPr/>
        </p:nvSpPr>
        <p:spPr>
          <a:xfrm>
            <a:off x="457200" y="3108960"/>
            <a:ext cx="4663440" cy="411480"/>
          </a:xfrm>
          <a:prstGeom prst="rect">
            <a:avLst/>
          </a:prstGeom>
          <a:noFill/>
          <a:ln/>
        </p:spPr>
        <p:txBody>
          <a:bodyPr wrap="square" rtlCol="0" anchor="ctr"/>
          <a:lstStyle/>
          <a:p>
            <a:pPr marL="0" indent="0">
              <a:buNone/>
            </a:pPr>
            <a:r>
              <a:rPr lang="en-US" sz="1500" b="1" dirty="0">
                <a:solidFill>
                  <a:srgbClr val="7C3AED"/>
                </a:solidFill>
                <a:latin typeface="Cambria" pitchFamily="34" charset="0"/>
                <a:ea typeface="Cambria" pitchFamily="34" charset="-122"/>
                <a:cs typeface="Cambria" pitchFamily="34" charset="-120"/>
              </a:rPr>
              <a:t>🚀  Perspectives d'amélioration</a:t>
            </a:r>
            <a:endParaRPr lang="en-US" sz="1500" dirty="0"/>
          </a:p>
        </p:txBody>
      </p:sp>
      <p:sp>
        <p:nvSpPr>
          <p:cNvPr id="11" name="Shape 9"/>
          <p:cNvSpPr/>
          <p:nvPr/>
        </p:nvSpPr>
        <p:spPr>
          <a:xfrm>
            <a:off x="457200" y="3675888"/>
            <a:ext cx="164592" cy="164592"/>
          </a:xfrm>
          <a:prstGeom prst="ellipse">
            <a:avLst/>
          </a:prstGeom>
          <a:solidFill>
            <a:srgbClr val="7C3AED"/>
          </a:solidFill>
          <a:ln w="12700">
            <a:solidFill>
              <a:srgbClr val="7C3AED"/>
            </a:solidFill>
            <a:prstDash val="solid"/>
          </a:ln>
        </p:spPr>
      </p:sp>
      <p:sp>
        <p:nvSpPr>
          <p:cNvPr id="12" name="Text 10"/>
          <p:cNvSpPr/>
          <p:nvPr/>
        </p:nvSpPr>
        <p:spPr>
          <a:xfrm>
            <a:off x="685800" y="3593592"/>
            <a:ext cx="4389120" cy="32004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Base de données (MySQL/MongoDB)</a:t>
            </a:r>
            <a:endParaRPr lang="en-US" sz="1200" dirty="0"/>
          </a:p>
        </p:txBody>
      </p:sp>
      <p:sp>
        <p:nvSpPr>
          <p:cNvPr id="13" name="Shape 11"/>
          <p:cNvSpPr/>
          <p:nvPr/>
        </p:nvSpPr>
        <p:spPr>
          <a:xfrm>
            <a:off x="457200" y="4014216"/>
            <a:ext cx="164592" cy="164592"/>
          </a:xfrm>
          <a:prstGeom prst="ellipse">
            <a:avLst/>
          </a:prstGeom>
          <a:solidFill>
            <a:srgbClr val="7C3AED"/>
          </a:solidFill>
          <a:ln w="12700">
            <a:solidFill>
              <a:srgbClr val="7C3AED"/>
            </a:solidFill>
            <a:prstDash val="solid"/>
          </a:ln>
        </p:spPr>
      </p:sp>
      <p:sp>
        <p:nvSpPr>
          <p:cNvPr id="14" name="Text 12"/>
          <p:cNvSpPr/>
          <p:nvPr/>
        </p:nvSpPr>
        <p:spPr>
          <a:xfrm>
            <a:off x="685800" y="3931920"/>
            <a:ext cx="4389120" cy="32004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Authentification utilisateurs</a:t>
            </a:r>
            <a:endParaRPr lang="en-US" sz="1200" dirty="0"/>
          </a:p>
        </p:txBody>
      </p:sp>
      <p:sp>
        <p:nvSpPr>
          <p:cNvPr id="15" name="Shape 13"/>
          <p:cNvSpPr/>
          <p:nvPr/>
        </p:nvSpPr>
        <p:spPr>
          <a:xfrm>
            <a:off x="457200" y="4352544"/>
            <a:ext cx="164592" cy="164592"/>
          </a:xfrm>
          <a:prstGeom prst="ellipse">
            <a:avLst/>
          </a:prstGeom>
          <a:solidFill>
            <a:srgbClr val="7C3AED"/>
          </a:solidFill>
          <a:ln w="12700">
            <a:solidFill>
              <a:srgbClr val="7C3AED"/>
            </a:solidFill>
            <a:prstDash val="solid"/>
          </a:ln>
        </p:spPr>
      </p:sp>
      <p:sp>
        <p:nvSpPr>
          <p:cNvPr id="16" name="Text 14"/>
          <p:cNvSpPr/>
          <p:nvPr/>
        </p:nvSpPr>
        <p:spPr>
          <a:xfrm>
            <a:off x="685800" y="4270248"/>
            <a:ext cx="4389120" cy="32004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Système de paiement en ligne</a:t>
            </a:r>
            <a:endParaRPr lang="en-US" sz="1200" dirty="0"/>
          </a:p>
        </p:txBody>
      </p:sp>
      <p:sp>
        <p:nvSpPr>
          <p:cNvPr id="17" name="Shape 15"/>
          <p:cNvSpPr/>
          <p:nvPr/>
        </p:nvSpPr>
        <p:spPr>
          <a:xfrm>
            <a:off x="457200" y="4690872"/>
            <a:ext cx="164592" cy="164592"/>
          </a:xfrm>
          <a:prstGeom prst="ellipse">
            <a:avLst/>
          </a:prstGeom>
          <a:solidFill>
            <a:srgbClr val="7C3AED"/>
          </a:solidFill>
          <a:ln w="12700">
            <a:solidFill>
              <a:srgbClr val="7C3AED"/>
            </a:solidFill>
            <a:prstDash val="solid"/>
          </a:ln>
        </p:spPr>
      </p:sp>
      <p:sp>
        <p:nvSpPr>
          <p:cNvPr id="18" name="Text 16"/>
          <p:cNvSpPr/>
          <p:nvPr/>
        </p:nvSpPr>
        <p:spPr>
          <a:xfrm>
            <a:off x="685800" y="4608576"/>
            <a:ext cx="4389120" cy="32004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Tableau de bord administrateur</a:t>
            </a:r>
            <a:endParaRPr lang="en-US" sz="1200" dirty="0"/>
          </a:p>
        </p:txBody>
      </p:sp>
      <p:sp>
        <p:nvSpPr>
          <p:cNvPr id="19" name="Shape 17"/>
          <p:cNvSpPr/>
          <p:nvPr/>
        </p:nvSpPr>
        <p:spPr>
          <a:xfrm>
            <a:off x="5486400" y="1051560"/>
            <a:ext cx="3383280" cy="3383280"/>
          </a:xfrm>
          <a:prstGeom prst="roundRect">
            <a:avLst>
              <a:gd name="adj" fmla="val 5405"/>
            </a:avLst>
          </a:prstGeom>
          <a:solidFill>
            <a:srgbClr val="F97316"/>
          </a:solidFill>
          <a:ln w="12700">
            <a:solidFill>
              <a:srgbClr val="F97316"/>
            </a:solidFill>
            <a:prstDash val="solid"/>
          </a:ln>
          <a:effectLst>
            <a:outerShdw blurRad="101600" dist="38100" dir="2700000" algn="bl" rotWithShape="0">
              <a:srgbClr val="000000">
                <a:alpha val="18000"/>
              </a:srgbClr>
            </a:outerShdw>
          </a:effectLst>
        </p:spPr>
      </p:sp>
      <p:sp>
        <p:nvSpPr>
          <p:cNvPr id="20" name="Text 18"/>
          <p:cNvSpPr/>
          <p:nvPr/>
        </p:nvSpPr>
        <p:spPr>
          <a:xfrm>
            <a:off x="5486400" y="1371600"/>
            <a:ext cx="3383280" cy="91440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21" name="Text 19"/>
          <p:cNvSpPr/>
          <p:nvPr/>
        </p:nvSpPr>
        <p:spPr>
          <a:xfrm>
            <a:off x="5577840" y="2331720"/>
            <a:ext cx="3200400" cy="82296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Merci pour</a:t>
            </a:r>
            <a:endParaRPr lang="en-US" sz="2000" dirty="0"/>
          </a:p>
          <a:p>
            <a:pPr marL="0" indent="0" algn="ctr">
              <a:buNone/>
            </a:pPr>
            <a:r>
              <a:rPr lang="en-US" sz="2000" b="1" dirty="0">
                <a:solidFill>
                  <a:srgbClr val="FFFFFF"/>
                </a:solidFill>
                <a:latin typeface="Cambria" pitchFamily="34" charset="0"/>
                <a:ea typeface="Cambria" pitchFamily="34" charset="-122"/>
                <a:cs typeface="Cambria" pitchFamily="34" charset="-120"/>
              </a:rPr>
              <a:t>votre attention !</a:t>
            </a:r>
            <a:endParaRPr lang="en-US" sz="2000" dirty="0"/>
          </a:p>
        </p:txBody>
      </p:sp>
      <p:sp>
        <p:nvSpPr>
          <p:cNvPr id="22" name="Text 20"/>
          <p:cNvSpPr/>
          <p:nvPr/>
        </p:nvSpPr>
        <p:spPr>
          <a:xfrm>
            <a:off x="5577840" y="3246120"/>
            <a:ext cx="3200400" cy="685800"/>
          </a:xfrm>
          <a:prstGeom prst="rect">
            <a:avLst/>
          </a:prstGeom>
          <a:noFill/>
          <a:ln/>
        </p:spPr>
        <p:txBody>
          <a:bodyPr wrap="square" rtlCol="0" anchor="ctr"/>
          <a:lstStyle/>
          <a:p>
            <a:pPr marL="0" indent="0" algn="ctr">
              <a:buNone/>
            </a:pPr>
            <a:r>
              <a:rPr lang="en-US" sz="1200" dirty="0">
                <a:solidFill>
                  <a:srgbClr val="FEF3C7"/>
                </a:solidFill>
                <a:latin typeface="Calibri" pitchFamily="34" charset="0"/>
                <a:ea typeface="Calibri" pitchFamily="34" charset="-122"/>
                <a:cs typeface="Calibri" pitchFamily="34" charset="-120"/>
              </a:rPr>
              <a:t>Aïssatou Ndir Seye</a:t>
            </a:r>
            <a:endParaRPr lang="en-US" sz="1200" dirty="0"/>
          </a:p>
          <a:p>
            <a:pPr marL="0" indent="0" algn="ctr">
              <a:buNone/>
            </a:pPr>
            <a:r>
              <a:rPr lang="en-US" sz="1200" dirty="0">
                <a:solidFill>
                  <a:srgbClr val="FEF3C7"/>
                </a:solidFill>
                <a:latin typeface="Calibri" pitchFamily="34" charset="0"/>
                <a:ea typeface="Calibri" pitchFamily="34" charset="-122"/>
                <a:cs typeface="Calibri" pitchFamily="34" charset="-120"/>
              </a:rPr>
              <a:t>L1 IAGE — ISI  |  2025–2026</a:t>
            </a:r>
            <a:endParaRPr lang="en-US" sz="1200" dirty="0"/>
          </a:p>
        </p:txBody>
      </p:sp>
      <p:sp>
        <p:nvSpPr>
          <p:cNvPr id="23" name="Text 21"/>
          <p:cNvSpPr/>
          <p:nvPr/>
        </p:nvSpPr>
        <p:spPr>
          <a:xfrm>
            <a:off x="5486400" y="4023360"/>
            <a:ext cx="3383280" cy="320040"/>
          </a:xfrm>
          <a:prstGeom prst="rect">
            <a:avLst/>
          </a:prstGeom>
          <a:noFill/>
          <a:ln/>
        </p:spPr>
        <p:txBody>
          <a:bodyPr wrap="square" rtlCol="0" anchor="ctr"/>
          <a:lstStyle/>
          <a:p>
            <a:pPr marL="0" indent="0" algn="ctr">
              <a:buNone/>
            </a:pPr>
            <a:r>
              <a:rPr lang="en-US" sz="1300" i="1" dirty="0">
                <a:solidFill>
                  <a:srgbClr val="FEF3C7"/>
                </a:solidFill>
                <a:latin typeface="Calibri" pitchFamily="34" charset="0"/>
                <a:ea typeface="Calibri" pitchFamily="34" charset="-122"/>
                <a:cs typeface="Calibri" pitchFamily="34" charset="-120"/>
              </a:rPr>
              <a:t>Questions ?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1099</Words>
  <Application>Microsoft Office PowerPoint</Application>
  <PresentationFormat>Affichage à l'écran (16:9)</PresentationFormat>
  <Paragraphs>305</Paragraphs>
  <Slides>15</Slides>
  <Notes>15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AfriTalent - Présentation S2</dc:title>
  <dc:subject>PptxGenJS Presentation</dc:subject>
  <dc:creator>Aïssatou Ndir Seye</dc:creator>
  <cp:lastModifiedBy>aissatoundirseye0@gmail.com</cp:lastModifiedBy>
  <cp:revision>3</cp:revision>
  <dcterms:created xsi:type="dcterms:W3CDTF">2026-06-19T20:18:18Z</dcterms:created>
  <dcterms:modified xsi:type="dcterms:W3CDTF">2026-06-20T15:15:36Z</dcterms:modified>
</cp:coreProperties>
</file>